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embeddedFontLst>
    <p:embeddedFont>
      <p:font typeface="Kumbh Sans" panose="020B0604020202020204" charset="0"/>
      <p:regular r:id="rId10"/>
    </p:embeddedFont>
    <p:embeddedFont>
      <p:font typeface="Kumbh Sans Bold" panose="020B0604020202020204" charset="0"/>
      <p:bold r:id="rId11"/>
    </p:embeddedFont>
    <p:embeddedFont>
      <p:font typeface="Kumbh Sans Medium" panose="020B0604020202020204" charset="0"/>
      <p:regular r:id="rId12"/>
    </p:embeddedFont>
    <p:embeddedFont>
      <p:font typeface="Kumbh Sans SemiBold" panose="020B0604020202020204" charset="0"/>
      <p:bold r:id="rId13"/>
    </p:embeddedFont>
    <p:embeddedFont>
      <p:font typeface="Martel ExtraBold" panose="020B0604020202020204" charset="0"/>
      <p:bold r:id="rId14"/>
    </p:embeddedFont>
    <p:embeddedFont>
      <p:font typeface="Martel SemiBold" panose="020B0604020202020204" charset="0"/>
      <p:bold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101"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a digital logic system that converts real-world intrusion events into a controlled alarm response. State the team and section, then preview the journey from Boolean design to Logisim simulation.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with the requirement, not the gates. The system must distinguish between an intrusion and an authorized, disarmed state. The four inputs and one output define the complete problem.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from left to right. Any sensor can create the intrusion condition I, but the final alarm requires S as well. This is the central safety property: detection alone is insufficient when the system is disarmed.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Logisim makes each Boolean term visible. The three sensor pins feed the OR gate, the arm switch enters the AND gate, and the LED provides an immediate visual alarm output.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table to prove both halves of the requirement. The first two rows show that disarming suppresses the alarm, even when all sensors are active. The remaining rows show that arming plus any active sensor produces a HIGH output.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validated equation and then separate current capability from future improvement. The final evidence checklist is practical: update the personal details, replace the screenshot, demonstrate the toggles, and upload the Logisim file.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 on the Boolean design, the Logisim circuit, or the simulation results.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CF7EC"/>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CF7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2659"/>
          </a:solidFill>
        </p:spPr>
      </p:sp>
      <p:pic>
        <p:nvPicPr>
          <p:cNvPr id="3"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39700" y="0"/>
            <a:ext cx="7315017" cy="6858000"/>
          </a:xfrm>
          <a:prstGeom prst="rect">
            <a:avLst/>
          </a:prstGeom>
          <a:solidFill>
            <a:srgbClr val="1B2659"/>
          </a:solidFill>
        </p:spPr>
      </p:sp>
      <p:sp>
        <p:nvSpPr>
          <p:cNvPr id="3" name="Shape 1"/>
          <p:cNvSpPr/>
          <p:nvPr/>
        </p:nvSpPr>
        <p:spPr>
          <a:xfrm>
            <a:off x="279294" y="330200"/>
            <a:ext cx="660284" cy="660301"/>
          </a:xfrm>
          <a:prstGeom prst="ellipse">
            <a:avLst/>
          </a:prstGeom>
          <a:noFill/>
          <a:ln w="19050">
            <a:solidFill>
              <a:srgbClr val="E3A33B"/>
            </a:solidFill>
            <a:prstDash val="solid"/>
          </a:ln>
        </p:spPr>
      </p:sp>
      <p:pic>
        <p:nvPicPr>
          <p:cNvPr id="4" name="Image 0" descr="preencoded.png"/>
          <p:cNvPicPr>
            <a:picLocks noChangeAspect="1"/>
          </p:cNvPicPr>
          <p:nvPr/>
        </p:nvPicPr>
        <p:blipFill>
          <a:blip r:embed="rId3"/>
          <a:stretch>
            <a:fillRect/>
          </a:stretch>
        </p:blipFill>
        <p:spPr>
          <a:xfrm>
            <a:off x="279393" y="609600"/>
            <a:ext cx="1269968" cy="448171"/>
          </a:xfrm>
          <a:prstGeom prst="rect">
            <a:avLst/>
          </a:prstGeom>
        </p:spPr>
      </p:pic>
      <p:sp>
        <p:nvSpPr>
          <p:cNvPr id="5" name="Text 2"/>
          <p:cNvSpPr/>
          <p:nvPr/>
        </p:nvSpPr>
        <p:spPr>
          <a:xfrm>
            <a:off x="279393" y="1161657"/>
            <a:ext cx="7035624" cy="182860"/>
          </a:xfrm>
          <a:prstGeom prst="rect">
            <a:avLst/>
          </a:prstGeom>
          <a:noFill/>
        </p:spPr>
        <p:txBody>
          <a:bodyPr wrap="none" lIns="0" tIns="0" rIns="0" bIns="0" rtlCol="0" anchor="t"/>
          <a:lstStyle/>
          <a:p>
            <a:pPr marL="0" indent="0" algn="l">
              <a:lnSpc>
                <a:spcPct val="100000"/>
              </a:lnSpc>
              <a:buNone/>
            </a:pPr>
            <a:r>
              <a:rPr lang="en-US" sz="1200" kern="100" spc="168" dirty="0">
                <a:solidFill>
                  <a:srgbClr val="E3A33B"/>
                </a:solidFill>
                <a:latin typeface="Kumbh Sans SemiBold" pitchFamily="34" charset="0"/>
                <a:ea typeface="Kumbh Sans SemiBold" pitchFamily="34" charset="-122"/>
                <a:cs typeface="Kumbh Sans SemiBold" pitchFamily="34" charset="-120"/>
              </a:rPr>
              <a:t>DIGITAL LOGIC · FINAL PROJECT</a:t>
            </a:r>
            <a:endParaRPr lang="en-US" sz="1200" dirty="0"/>
          </a:p>
        </p:txBody>
      </p:sp>
      <p:sp>
        <p:nvSpPr>
          <p:cNvPr id="6" name="Text 3"/>
          <p:cNvSpPr/>
          <p:nvPr/>
        </p:nvSpPr>
        <p:spPr>
          <a:xfrm>
            <a:off x="279400" y="1428115"/>
            <a:ext cx="8345170" cy="2710815"/>
          </a:xfrm>
          <a:prstGeom prst="rect">
            <a:avLst/>
          </a:prstGeom>
          <a:noFill/>
        </p:spPr>
        <p:txBody>
          <a:bodyPr wrap="square" lIns="0" tIns="0" rIns="0" bIns="0" rtlCol="0" anchor="t">
            <a:normAutofit lnSpcReduction="10000"/>
          </a:bodyPr>
          <a:lstStyle/>
          <a:p>
            <a:pPr marL="0" indent="0" algn="l">
              <a:lnSpc>
                <a:spcPct val="97000"/>
              </a:lnSpc>
              <a:buNone/>
            </a:pPr>
            <a:r>
              <a:rPr lang="en-US" sz="4600" kern="100" spc="-46" dirty="0">
                <a:solidFill>
                  <a:srgbClr val="FFFFFF"/>
                </a:solidFill>
                <a:latin typeface="Martel ExtraBold" panose="00000900000000000000" pitchFamily="34" charset="0"/>
                <a:ea typeface="Martel ExtraBold" panose="00000900000000000000" pitchFamily="34" charset="-122"/>
                <a:cs typeface="Martel ExtraBold" panose="00000900000000000000" pitchFamily="34" charset="-120"/>
              </a:rPr>
              <a:t>Design and</a:t>
            </a:r>
            <a:endParaRPr lang="en-US" sz="4600" dirty="0"/>
          </a:p>
          <a:p>
            <a:pPr marL="0" indent="0" algn="l">
              <a:lnSpc>
                <a:spcPct val="97000"/>
              </a:lnSpc>
              <a:buNone/>
            </a:pPr>
            <a:r>
              <a:rPr lang="en-US" sz="4600" kern="100" spc="-46" dirty="0">
                <a:solidFill>
                  <a:srgbClr val="FFFFFF"/>
                </a:solidFill>
                <a:latin typeface="Martel ExtraBold" panose="00000900000000000000" pitchFamily="34" charset="0"/>
                <a:ea typeface="Martel ExtraBold" panose="00000900000000000000" pitchFamily="34" charset="-122"/>
                <a:cs typeface="Martel ExtraBold" panose="00000900000000000000" pitchFamily="34" charset="-120"/>
              </a:rPr>
              <a:t>Simulation of a</a:t>
            </a:r>
            <a:endParaRPr lang="en-US" sz="4600" dirty="0"/>
          </a:p>
          <a:p>
            <a:pPr marL="0" indent="0" algn="l">
              <a:lnSpc>
                <a:spcPct val="97000"/>
              </a:lnSpc>
              <a:buNone/>
            </a:pPr>
            <a:r>
              <a:rPr lang="en-US" sz="4600" i="1" kern="100" spc="-46" dirty="0">
                <a:solidFill>
                  <a:srgbClr val="FFFFFF"/>
                </a:solidFill>
                <a:latin typeface="Martel ExtraBold" panose="00000900000000000000" pitchFamily="34" charset="0"/>
                <a:ea typeface="Martel ExtraBold" panose="00000900000000000000" pitchFamily="34" charset="-122"/>
                <a:cs typeface="Martel ExtraBold" panose="00000900000000000000" pitchFamily="34" charset="-120"/>
              </a:rPr>
              <a:t>Smart Home</a:t>
            </a:r>
            <a:endParaRPr lang="en-US" sz="4600" dirty="0"/>
          </a:p>
          <a:p>
            <a:pPr marL="0" indent="0" algn="l">
              <a:lnSpc>
                <a:spcPct val="97000"/>
              </a:lnSpc>
              <a:buNone/>
            </a:pPr>
            <a:r>
              <a:rPr lang="en-US" sz="4600" i="1" kern="100" spc="-46" dirty="0">
                <a:solidFill>
                  <a:srgbClr val="FFFFFF"/>
                </a:solidFill>
                <a:latin typeface="Martel ExtraBold" panose="00000900000000000000" pitchFamily="34" charset="0"/>
                <a:ea typeface="Martel ExtraBold" panose="00000900000000000000" pitchFamily="34" charset="-122"/>
                <a:cs typeface="Martel ExtraBold" panose="00000900000000000000" pitchFamily="34" charset="-120"/>
              </a:rPr>
              <a:t>Security System</a:t>
            </a:r>
            <a:endParaRPr lang="en-US" sz="4600" dirty="0"/>
          </a:p>
        </p:txBody>
      </p:sp>
      <p:sp>
        <p:nvSpPr>
          <p:cNvPr id="7" name="Shape 4"/>
          <p:cNvSpPr/>
          <p:nvPr/>
        </p:nvSpPr>
        <p:spPr>
          <a:xfrm>
            <a:off x="279393" y="4406900"/>
            <a:ext cx="1644609" cy="31651"/>
          </a:xfrm>
          <a:prstGeom prst="roundRect">
            <a:avLst>
              <a:gd name="adj" fmla="val 49998"/>
            </a:avLst>
          </a:prstGeom>
          <a:solidFill>
            <a:srgbClr val="E3A33B"/>
          </a:solidFill>
        </p:spPr>
      </p:sp>
      <p:sp>
        <p:nvSpPr>
          <p:cNvPr id="8" name="Text 5"/>
          <p:cNvSpPr/>
          <p:nvPr/>
        </p:nvSpPr>
        <p:spPr>
          <a:xfrm>
            <a:off x="279393" y="4022408"/>
            <a:ext cx="6578435" cy="313630"/>
          </a:xfrm>
          <a:prstGeom prst="rect">
            <a:avLst/>
          </a:prstGeom>
          <a:noFill/>
        </p:spPr>
        <p:txBody>
          <a:bodyPr wrap="none" lIns="0" tIns="0" rIns="0" bIns="0" rtlCol="0" anchor="t"/>
          <a:lstStyle/>
          <a:p>
            <a:pPr marL="0" indent="0" algn="l">
              <a:lnSpc>
                <a:spcPct val="108000"/>
              </a:lnSpc>
              <a:buNone/>
            </a:pPr>
            <a:r>
              <a:rPr lang="en-US" sz="1900" dirty="0">
                <a:solidFill>
                  <a:srgbClr val="FFFFFF"/>
                </a:solidFill>
                <a:latin typeface="Kumbh Sans Medium" pitchFamily="34" charset="0"/>
                <a:ea typeface="Kumbh Sans Medium" pitchFamily="34" charset="-122"/>
                <a:cs typeface="Kumbh Sans Medium" pitchFamily="34" charset="-120"/>
              </a:rPr>
              <a:t>From intrusion inputs to a verified alarm output</a:t>
            </a:r>
            <a:endParaRPr lang="en-US" sz="1900" dirty="0"/>
          </a:p>
        </p:txBody>
      </p:sp>
      <p:sp>
        <p:nvSpPr>
          <p:cNvPr id="9" name="Text 6"/>
          <p:cNvSpPr/>
          <p:nvPr/>
        </p:nvSpPr>
        <p:spPr>
          <a:xfrm>
            <a:off x="292093" y="4138870"/>
            <a:ext cx="7035624" cy="266700"/>
          </a:xfrm>
          <a:prstGeom prst="rect">
            <a:avLst/>
          </a:prstGeom>
          <a:noFill/>
        </p:spPr>
        <p:txBody>
          <a:bodyPr wrap="none" lIns="0" tIns="0" rIns="0" bIns="0" rtlCol="0" anchor="t"/>
          <a:lstStyle/>
          <a:p>
            <a:pPr marL="0" indent="0" algn="l">
              <a:lnSpc>
                <a:spcPct val="117000"/>
              </a:lnSpc>
              <a:buNone/>
            </a:pPr>
            <a:endParaRPr lang="en-US" sz="1500" dirty="0"/>
          </a:p>
        </p:txBody>
      </p:sp>
      <p:sp>
        <p:nvSpPr>
          <p:cNvPr id="10" name="Text 7"/>
          <p:cNvSpPr/>
          <p:nvPr/>
        </p:nvSpPr>
        <p:spPr>
          <a:xfrm>
            <a:off x="279400" y="4706620"/>
            <a:ext cx="6960870" cy="1739265"/>
          </a:xfrm>
          <a:prstGeom prst="rect">
            <a:avLst/>
          </a:prstGeom>
          <a:noFill/>
        </p:spPr>
        <p:txBody>
          <a:bodyPr wrap="square" lIns="0" tIns="0" rIns="0" bIns="0" rtlCol="0" anchor="t">
            <a:normAutofit lnSpcReduction="10000"/>
          </a:bodyPr>
          <a:lstStyle/>
          <a:p>
            <a:pPr marL="0" indent="0" algn="l">
              <a:lnSpc>
                <a:spcPct val="108000"/>
              </a:lnSpc>
              <a:buNone/>
            </a:pPr>
            <a:r>
              <a:rPr lang="en-IN" altLang="en-US" sz="1250" dirty="0">
                <a:solidFill>
                  <a:schemeClr val="bg1">
                    <a:lumMod val="95000"/>
                  </a:schemeClr>
                </a:solidFill>
                <a:sym typeface="+mn-ea"/>
              </a:rPr>
              <a:t>   </a:t>
            </a:r>
            <a:r>
              <a:rPr lang="en-IN" altLang="en-US" sz="1600" b="1" dirty="0">
                <a:solidFill>
                  <a:schemeClr val="bg1">
                    <a:lumMod val="95000"/>
                  </a:schemeClr>
                </a:solidFill>
                <a:sym typeface="+mn-ea"/>
              </a:rPr>
              <a:t> </a:t>
            </a:r>
            <a:r>
              <a:rPr lang="en-US" sz="1600" b="1" dirty="0">
                <a:solidFill>
                  <a:schemeClr val="bg1">
                    <a:lumMod val="95000"/>
                  </a:schemeClr>
                </a:solidFill>
                <a:sym typeface="+mn-ea"/>
              </a:rPr>
              <a:t>Team members;                                                          </a:t>
            </a:r>
            <a:r>
              <a:rPr lang="en-US" sz="2000" b="1" dirty="0">
                <a:solidFill>
                  <a:schemeClr val="bg1">
                    <a:lumMod val="95000"/>
                  </a:schemeClr>
                </a:solidFill>
                <a:sym typeface="+mn-ea"/>
              </a:rPr>
              <a:t>Under Supervision of ;</a:t>
            </a:r>
            <a:endParaRPr lang="en-US" sz="1600" b="1" dirty="0">
              <a:solidFill>
                <a:schemeClr val="bg1">
                  <a:lumMod val="95000"/>
                </a:schemeClr>
              </a:solidFill>
            </a:endParaRPr>
          </a:p>
          <a:p>
            <a:pPr marL="514350" indent="-514350">
              <a:buAutoNum type="arabicPeriod"/>
            </a:pPr>
            <a:r>
              <a:rPr lang="en-US" sz="1600" b="1" dirty="0" err="1">
                <a:solidFill>
                  <a:schemeClr val="bg1">
                    <a:lumMod val="95000"/>
                  </a:schemeClr>
                </a:solidFill>
                <a:sym typeface="+mn-ea"/>
              </a:rPr>
              <a:t>G.Kundana</a:t>
            </a:r>
            <a:r>
              <a:rPr lang="en-US" sz="1600" b="1" dirty="0">
                <a:solidFill>
                  <a:schemeClr val="bg1">
                    <a:lumMod val="95000"/>
                  </a:schemeClr>
                </a:solidFill>
                <a:sym typeface="+mn-ea"/>
              </a:rPr>
              <a:t> Reddy-2620030189                           </a:t>
            </a:r>
            <a:r>
              <a:rPr lang="en-US" sz="2000" b="1" dirty="0">
                <a:solidFill>
                  <a:schemeClr val="bg1">
                    <a:lumMod val="95000"/>
                  </a:schemeClr>
                </a:solidFill>
                <a:sym typeface="+mn-ea"/>
              </a:rPr>
              <a:t> </a:t>
            </a:r>
            <a:r>
              <a:rPr lang="en-US" sz="2000" b="1" dirty="0" err="1">
                <a:solidFill>
                  <a:schemeClr val="bg1">
                    <a:lumMod val="95000"/>
                  </a:schemeClr>
                </a:solidFill>
                <a:sym typeface="+mn-ea"/>
              </a:rPr>
              <a:t>Dayarnab</a:t>
            </a:r>
            <a:r>
              <a:rPr lang="en-US" sz="2000" b="1" dirty="0">
                <a:solidFill>
                  <a:schemeClr val="bg1">
                    <a:lumMod val="95000"/>
                  </a:schemeClr>
                </a:solidFill>
                <a:sym typeface="+mn-ea"/>
              </a:rPr>
              <a:t> Baidya </a:t>
            </a:r>
            <a:endParaRPr lang="en-US" sz="2000" b="1" dirty="0">
              <a:solidFill>
                <a:schemeClr val="bg1">
                  <a:lumMod val="95000"/>
                </a:schemeClr>
              </a:solidFill>
            </a:endParaRPr>
          </a:p>
          <a:p>
            <a:pPr marL="457200" indent="-457200">
              <a:buAutoNum type="arabicPeriod"/>
            </a:pPr>
            <a:r>
              <a:rPr lang="en-US" sz="1600" b="1" dirty="0">
                <a:solidFill>
                  <a:schemeClr val="bg1">
                    <a:lumMod val="95000"/>
                  </a:schemeClr>
                </a:solidFill>
                <a:sym typeface="+mn-ea"/>
              </a:rPr>
              <a:t>K.Pravalika-2620030186</a:t>
            </a:r>
            <a:endParaRPr lang="en-US" sz="1600" b="1" dirty="0">
              <a:solidFill>
                <a:schemeClr val="bg1">
                  <a:lumMod val="95000"/>
                </a:schemeClr>
              </a:solidFill>
            </a:endParaRPr>
          </a:p>
          <a:p>
            <a:pPr marL="457200" indent="-457200">
              <a:buAutoNum type="arabicPeriod"/>
            </a:pPr>
            <a:r>
              <a:rPr lang="en-US" sz="1600" b="1" dirty="0">
                <a:solidFill>
                  <a:schemeClr val="bg1">
                    <a:lumMod val="95000"/>
                  </a:schemeClr>
                </a:solidFill>
                <a:sym typeface="+mn-ea"/>
              </a:rPr>
              <a:t>Vasu Akshita-2620030222</a:t>
            </a:r>
            <a:endParaRPr lang="en-US" sz="1600" b="1" dirty="0">
              <a:solidFill>
                <a:schemeClr val="bg1">
                  <a:lumMod val="95000"/>
                </a:schemeClr>
              </a:solidFill>
            </a:endParaRPr>
          </a:p>
          <a:p>
            <a:pPr marL="457200" indent="-457200">
              <a:buAutoNum type="arabicPeriod"/>
            </a:pPr>
            <a:r>
              <a:rPr lang="en-US" sz="1600" b="1" dirty="0">
                <a:solidFill>
                  <a:schemeClr val="bg1">
                    <a:lumMod val="95000"/>
                  </a:schemeClr>
                </a:solidFill>
                <a:sym typeface="+mn-ea"/>
              </a:rPr>
              <a:t> </a:t>
            </a:r>
            <a:r>
              <a:rPr lang="en-US" sz="1600" b="1" dirty="0" err="1">
                <a:solidFill>
                  <a:schemeClr val="bg1">
                    <a:lumMod val="95000"/>
                  </a:schemeClr>
                </a:solidFill>
                <a:sym typeface="+mn-ea"/>
              </a:rPr>
              <a:t>K.Deeksha</a:t>
            </a:r>
            <a:r>
              <a:rPr lang="en-US" sz="1600" b="1" dirty="0">
                <a:solidFill>
                  <a:schemeClr val="bg1">
                    <a:lumMod val="95000"/>
                  </a:schemeClr>
                </a:solidFill>
                <a:sym typeface="+mn-ea"/>
              </a:rPr>
              <a:t> Reddy-2620090126</a:t>
            </a:r>
            <a:endParaRPr lang="en-US" sz="1600" b="1" dirty="0">
              <a:solidFill>
                <a:schemeClr val="bg1">
                  <a:lumMod val="95000"/>
                </a:schemeClr>
              </a:solidFill>
            </a:endParaRPr>
          </a:p>
          <a:p>
            <a:pPr marL="457200" indent="-457200">
              <a:buAutoNum type="arabicPeriod"/>
            </a:pPr>
            <a:r>
              <a:rPr lang="en-US" sz="1600" b="1" dirty="0">
                <a:solidFill>
                  <a:schemeClr val="bg1">
                    <a:lumMod val="95000"/>
                  </a:schemeClr>
                </a:solidFill>
                <a:sym typeface="+mn-ea"/>
              </a:rPr>
              <a:t> M.Sharanya-2620030228  </a:t>
            </a:r>
            <a:r>
              <a:rPr lang="en-US" sz="1250" dirty="0">
                <a:solidFill>
                  <a:schemeClr val="bg1">
                    <a:lumMod val="95000"/>
                  </a:schemeClr>
                </a:solidFill>
                <a:sym typeface="+mn-ea"/>
              </a:rPr>
              <a:t>        </a:t>
            </a:r>
          </a:p>
        </p:txBody>
      </p:sp>
      <p:sp>
        <p:nvSpPr>
          <p:cNvPr id="11" name="Shape 8"/>
          <p:cNvSpPr/>
          <p:nvPr/>
        </p:nvSpPr>
        <p:spPr>
          <a:xfrm>
            <a:off x="7315017" y="0"/>
            <a:ext cx="4876678" cy="6858000"/>
          </a:xfrm>
          <a:prstGeom prst="rect">
            <a:avLst/>
          </a:prstGeom>
          <a:solidFill>
            <a:srgbClr val="1B2659"/>
          </a:solidFill>
        </p:spPr>
      </p:sp>
      <p:sp>
        <p:nvSpPr>
          <p:cNvPr id="12" name="Shape 9"/>
          <p:cNvSpPr/>
          <p:nvPr/>
        </p:nvSpPr>
        <p:spPr>
          <a:xfrm>
            <a:off x="7315017" y="508000"/>
            <a:ext cx="4368691" cy="5842000"/>
          </a:xfrm>
          <a:prstGeom prst="rect">
            <a:avLst/>
          </a:prstGeom>
          <a:noFill/>
          <a:ln w="12700">
            <a:solidFill>
              <a:srgbClr val="E3A33B"/>
            </a:solidFill>
            <a:prstDash val="solid"/>
          </a:ln>
        </p:spPr>
      </p:sp>
      <p:pic>
        <p:nvPicPr>
          <p:cNvPr id="13" name="Image 1" descr="preencoded.png"/>
          <p:cNvPicPr>
            <a:picLocks noChangeAspect="1"/>
          </p:cNvPicPr>
          <p:nvPr/>
        </p:nvPicPr>
        <p:blipFill>
          <a:blip r:embed="rId4"/>
          <a:stretch>
            <a:fillRect/>
          </a:stretch>
        </p:blipFill>
        <p:spPr>
          <a:xfrm>
            <a:off x="7327717" y="520700"/>
            <a:ext cx="4343291" cy="5816600"/>
          </a:xfrm>
          <a:prstGeom prst="rect">
            <a:avLst/>
          </a:prstGeom>
        </p:spPr>
      </p:pic>
      <p:sp>
        <p:nvSpPr>
          <p:cNvPr id="14" name="Text 10"/>
          <p:cNvSpPr/>
          <p:nvPr/>
        </p:nvSpPr>
        <p:spPr>
          <a:xfrm>
            <a:off x="609585" y="6446540"/>
            <a:ext cx="1140293" cy="213320"/>
          </a:xfrm>
          <a:prstGeom prst="rect">
            <a:avLst/>
          </a:prstGeom>
          <a:noFill/>
        </p:spPr>
        <p:txBody>
          <a:bodyPr wrap="none" lIns="0" tIns="0" rIns="0" bIns="0" rtlCol="0" anchor="ctr"/>
          <a:lstStyle/>
          <a:p>
            <a:pPr marL="0" indent="0" algn="l">
              <a:lnSpc>
                <a:spcPct val="117000"/>
              </a:lnSpc>
              <a:buNone/>
            </a:pPr>
            <a:r>
              <a:rPr lang="en-US" sz="1200" kern="100" spc="48" dirty="0">
                <a:solidFill>
                  <a:srgbClr val="E3A33B"/>
                </a:solidFill>
                <a:latin typeface="Martel SemiBold" panose="00000700000000000000" pitchFamily="34" charset="0"/>
                <a:ea typeface="Martel SemiBold" panose="00000700000000000000" pitchFamily="34" charset="-122"/>
                <a:cs typeface="Martel SemiBold" panose="00000700000000000000" pitchFamily="34" charset="-120"/>
              </a:rPr>
              <a:t>01 / 07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438339" cy="6858000"/>
          </a:xfrm>
          <a:prstGeom prst="rect">
            <a:avLst/>
          </a:prstGeom>
          <a:solidFill>
            <a:srgbClr val="1B2659"/>
          </a:solidFill>
        </p:spPr>
      </p:sp>
      <p:sp>
        <p:nvSpPr>
          <p:cNvPr id="3" name="Shape 1"/>
          <p:cNvSpPr/>
          <p:nvPr/>
        </p:nvSpPr>
        <p:spPr>
          <a:xfrm>
            <a:off x="279294" y="330200"/>
            <a:ext cx="660284" cy="660301"/>
          </a:xfrm>
          <a:prstGeom prst="ellipse">
            <a:avLst/>
          </a:prstGeom>
          <a:noFill/>
          <a:ln w="19050">
            <a:solidFill>
              <a:srgbClr val="E3A33B"/>
            </a:solidFill>
            <a:prstDash val="solid"/>
          </a:ln>
        </p:spPr>
      </p:sp>
      <p:sp>
        <p:nvSpPr>
          <p:cNvPr id="4" name="Text 2"/>
          <p:cNvSpPr/>
          <p:nvPr/>
        </p:nvSpPr>
        <p:spPr>
          <a:xfrm>
            <a:off x="279393" y="1246886"/>
            <a:ext cx="2158946" cy="182860"/>
          </a:xfrm>
          <a:prstGeom prst="rect">
            <a:avLst/>
          </a:prstGeom>
          <a:noFill/>
        </p:spPr>
        <p:txBody>
          <a:bodyPr wrap="none" lIns="0" tIns="0" rIns="0" bIns="0" rtlCol="0" anchor="t"/>
          <a:lstStyle/>
          <a:p>
            <a:pPr marL="0" indent="0" algn="l">
              <a:lnSpc>
                <a:spcPct val="100000"/>
              </a:lnSpc>
              <a:buNone/>
            </a:pPr>
            <a:r>
              <a:rPr lang="en-US" sz="1200" kern="100" spc="168" dirty="0">
                <a:solidFill>
                  <a:srgbClr val="E3A33B"/>
                </a:solidFill>
                <a:latin typeface="Kumbh Sans SemiBold" pitchFamily="34" charset="0"/>
                <a:ea typeface="Kumbh Sans SemiBold" pitchFamily="34" charset="-122"/>
                <a:cs typeface="Kumbh Sans SemiBold" pitchFamily="34" charset="-120"/>
              </a:rPr>
              <a:t>PROJECT 01</a:t>
            </a:r>
            <a:endParaRPr lang="en-US" sz="1200" dirty="0"/>
          </a:p>
        </p:txBody>
      </p:sp>
      <p:sp>
        <p:nvSpPr>
          <p:cNvPr id="5" name="Text 3"/>
          <p:cNvSpPr/>
          <p:nvPr/>
        </p:nvSpPr>
        <p:spPr>
          <a:xfrm>
            <a:off x="279393" y="1521123"/>
            <a:ext cx="2158946" cy="266700"/>
          </a:xfrm>
          <a:prstGeom prst="rect">
            <a:avLst/>
          </a:prstGeom>
          <a:noFill/>
        </p:spPr>
        <p:txBody>
          <a:bodyPr wrap="none" lIns="0" tIns="0" rIns="0" bIns="0" rtlCol="0" anchor="t"/>
          <a:lstStyle/>
          <a:p>
            <a:pPr marL="0" indent="0" algn="l">
              <a:lnSpc>
                <a:spcPct val="117000"/>
              </a:lnSpc>
              <a:buNone/>
            </a:pPr>
            <a:r>
              <a:rPr lang="en-US" sz="1500" dirty="0">
                <a:solidFill>
                  <a:srgbClr val="FFFFFF"/>
                </a:solidFill>
                <a:latin typeface="Kumbh Sans" pitchFamily="34" charset="0"/>
                <a:ea typeface="Kumbh Sans" pitchFamily="34" charset="-122"/>
                <a:cs typeface="Kumbh Sans" pitchFamily="34" charset="-120"/>
              </a:rPr>
              <a:t>Smart Home Security</a:t>
            </a:r>
            <a:endParaRPr lang="en-US" sz="1500" dirty="0"/>
          </a:p>
        </p:txBody>
      </p:sp>
      <p:sp>
        <p:nvSpPr>
          <p:cNvPr id="6" name="Shape 4"/>
          <p:cNvSpPr/>
          <p:nvPr/>
        </p:nvSpPr>
        <p:spPr>
          <a:xfrm>
            <a:off x="279393" y="1924348"/>
            <a:ext cx="482588" cy="31651"/>
          </a:xfrm>
          <a:prstGeom prst="roundRect">
            <a:avLst>
              <a:gd name="adj" fmla="val 49998"/>
            </a:avLst>
          </a:prstGeom>
          <a:solidFill>
            <a:srgbClr val="E3A33B"/>
          </a:solidFill>
        </p:spPr>
      </p:sp>
      <p:sp>
        <p:nvSpPr>
          <p:cNvPr id="7" name="Text 5"/>
          <p:cNvSpPr/>
          <p:nvPr/>
        </p:nvSpPr>
        <p:spPr>
          <a:xfrm>
            <a:off x="279393" y="2099671"/>
            <a:ext cx="2158946" cy="182860"/>
          </a:xfrm>
          <a:prstGeom prst="rect">
            <a:avLst/>
          </a:prstGeom>
          <a:noFill/>
        </p:spPr>
        <p:txBody>
          <a:bodyPr wrap="none" lIns="0" tIns="0" rIns="0" bIns="0" rtlCol="0" anchor="t"/>
          <a:lstStyle/>
          <a:p>
            <a:pPr marL="0" indent="0" algn="l">
              <a:lnSpc>
                <a:spcPct val="100000"/>
              </a:lnSpc>
              <a:buNone/>
            </a:pPr>
            <a:r>
              <a:rPr lang="en-US" sz="1200" kern="100" spc="168" dirty="0">
                <a:solidFill>
                  <a:srgbClr val="FFFFFF"/>
                </a:solidFill>
                <a:latin typeface="Kumbh Sans SemiBold" pitchFamily="34" charset="0"/>
                <a:ea typeface="Kumbh Sans SemiBold" pitchFamily="34" charset="-122"/>
                <a:cs typeface="Kumbh Sans SemiBold" pitchFamily="34" charset="-120"/>
              </a:rPr>
              <a:t>OBJECTIVE</a:t>
            </a:r>
            <a:endParaRPr lang="en-US" sz="1200" dirty="0"/>
          </a:p>
        </p:txBody>
      </p:sp>
      <p:sp>
        <p:nvSpPr>
          <p:cNvPr id="8" name="Text 6"/>
          <p:cNvSpPr/>
          <p:nvPr/>
        </p:nvSpPr>
        <p:spPr>
          <a:xfrm>
            <a:off x="279393" y="5561806"/>
            <a:ext cx="1930352" cy="412750"/>
          </a:xfrm>
          <a:prstGeom prst="rect">
            <a:avLst/>
          </a:prstGeom>
          <a:noFill/>
        </p:spPr>
        <p:txBody>
          <a:bodyPr wrap="square" lIns="0" tIns="0" rIns="0" bIns="0" rtlCol="0" anchor="t">
            <a:normAutofit/>
          </a:bodyPr>
          <a:lstStyle/>
          <a:p>
            <a:pPr marL="0" indent="0" algn="l">
              <a:lnSpc>
                <a:spcPct val="108000"/>
              </a:lnSpc>
              <a:buNone/>
            </a:pPr>
            <a:r>
              <a:rPr lang="en-US" sz="1250" kern="100" spc="12" dirty="0">
                <a:solidFill>
                  <a:srgbClr val="FFFFFF"/>
                </a:solidFill>
                <a:latin typeface="Kumbh Sans" pitchFamily="34" charset="0"/>
                <a:ea typeface="Kumbh Sans" pitchFamily="34" charset="-122"/>
                <a:cs typeface="Kumbh Sans" pitchFamily="34" charset="-120"/>
              </a:rPr>
              <a:t>Digital logic · System definition</a:t>
            </a:r>
            <a:endParaRPr lang="en-US" sz="1250" dirty="0"/>
          </a:p>
        </p:txBody>
      </p:sp>
      <p:sp>
        <p:nvSpPr>
          <p:cNvPr id="9" name="Text 7"/>
          <p:cNvSpPr/>
          <p:nvPr/>
        </p:nvSpPr>
        <p:spPr>
          <a:xfrm>
            <a:off x="2946326" y="438467"/>
            <a:ext cx="8686583" cy="411460"/>
          </a:xfrm>
          <a:prstGeom prst="rect">
            <a:avLst/>
          </a:prstGeom>
          <a:noFill/>
        </p:spPr>
        <p:txBody>
          <a:bodyPr wrap="none" lIns="0" tIns="0" rIns="0" bIns="0" rtlCol="0" anchor="t"/>
          <a:lstStyle/>
          <a:p>
            <a:pPr marL="0" indent="0" algn="l">
              <a:lnSpc>
                <a:spcPct val="90000"/>
              </a:lnSpc>
              <a:buNone/>
            </a:pPr>
            <a:r>
              <a:rPr lang="en-US" sz="3000" kern="100" spc="-30" dirty="0">
                <a:solidFill>
                  <a:srgbClr val="1B2659"/>
                </a:solidFill>
                <a:latin typeface="Martel ExtraBold" panose="00000900000000000000" pitchFamily="34" charset="0"/>
                <a:ea typeface="Martel ExtraBold" panose="00000900000000000000" pitchFamily="34" charset="-122"/>
                <a:cs typeface="Martel ExtraBold" panose="00000900000000000000" pitchFamily="34" charset="-120"/>
              </a:rPr>
              <a:t>Security begins with one clear decision</a:t>
            </a:r>
            <a:endParaRPr lang="en-US" sz="3000" dirty="0"/>
          </a:p>
        </p:txBody>
      </p:sp>
      <p:sp>
        <p:nvSpPr>
          <p:cNvPr id="10" name="Shape 8"/>
          <p:cNvSpPr/>
          <p:nvPr/>
        </p:nvSpPr>
        <p:spPr>
          <a:xfrm>
            <a:off x="2946326" y="1111548"/>
            <a:ext cx="8686583" cy="31651"/>
          </a:xfrm>
          <a:prstGeom prst="roundRect">
            <a:avLst>
              <a:gd name="adj" fmla="val 49998"/>
            </a:avLst>
          </a:prstGeom>
          <a:solidFill>
            <a:srgbClr val="E3A33B"/>
          </a:solidFill>
        </p:spPr>
      </p:sp>
      <p:sp>
        <p:nvSpPr>
          <p:cNvPr id="11" name="Text 9"/>
          <p:cNvSpPr/>
          <p:nvPr/>
        </p:nvSpPr>
        <p:spPr>
          <a:xfrm>
            <a:off x="2946326" y="1395393"/>
            <a:ext cx="8686583" cy="675481"/>
          </a:xfrm>
          <a:prstGeom prst="rect">
            <a:avLst/>
          </a:prstGeom>
          <a:noFill/>
        </p:spPr>
        <p:txBody>
          <a:bodyPr wrap="square" lIns="0" tIns="0" rIns="0" bIns="0" rtlCol="0" anchor="t">
            <a:normAutofit/>
          </a:bodyPr>
          <a:lstStyle/>
          <a:p>
            <a:pPr marL="0" indent="0" algn="l">
              <a:lnSpc>
                <a:spcPct val="117000"/>
              </a:lnSpc>
              <a:buNone/>
            </a:pPr>
            <a:r>
              <a:rPr lang="en-US" sz="1900" dirty="0">
                <a:solidFill>
                  <a:srgbClr val="22262E"/>
                </a:solidFill>
                <a:latin typeface="Kumbh Sans" pitchFamily="34" charset="0"/>
                <a:ea typeface="Kumbh Sans" pitchFamily="34" charset="-122"/>
                <a:cs typeface="Kumbh Sans" pitchFamily="34" charset="-120"/>
              </a:rPr>
              <a:t>A protected entry should trigger the alarm only when the security system is armed.</a:t>
            </a:r>
            <a:endParaRPr lang="en-US" sz="1900" dirty="0"/>
          </a:p>
        </p:txBody>
      </p:sp>
      <p:sp>
        <p:nvSpPr>
          <p:cNvPr id="12" name="Shape 10"/>
          <p:cNvSpPr/>
          <p:nvPr/>
        </p:nvSpPr>
        <p:spPr>
          <a:xfrm>
            <a:off x="2946326" y="2385516"/>
            <a:ext cx="431789" cy="431800"/>
          </a:xfrm>
          <a:prstGeom prst="ellipse">
            <a:avLst/>
          </a:prstGeom>
          <a:noFill/>
          <a:ln w="19050">
            <a:solidFill>
              <a:srgbClr val="8A4E0E"/>
            </a:solidFill>
            <a:prstDash val="solid"/>
          </a:ln>
        </p:spPr>
      </p:sp>
      <p:sp>
        <p:nvSpPr>
          <p:cNvPr id="13" name="Text 11"/>
          <p:cNvSpPr/>
          <p:nvPr/>
        </p:nvSpPr>
        <p:spPr>
          <a:xfrm>
            <a:off x="3115887" y="2499816"/>
            <a:ext cx="702253" cy="203200"/>
          </a:xfrm>
          <a:prstGeom prst="rect">
            <a:avLst/>
          </a:prstGeom>
          <a:noFill/>
        </p:spPr>
        <p:txBody>
          <a:bodyPr wrap="none" lIns="0" tIns="0" rIns="0" bIns="0" rtlCol="0" anchor="t"/>
          <a:lstStyle/>
          <a:p>
            <a:pPr marL="0" indent="0" algn="l">
              <a:lnSpc>
                <a:spcPct val="83000"/>
              </a:lnSpc>
              <a:buNone/>
            </a:pPr>
            <a:r>
              <a:rPr lang="en-US" sz="1600" dirty="0">
                <a:solidFill>
                  <a:srgbClr val="1B2659"/>
                </a:solidFill>
                <a:latin typeface="Martel SemiBold" panose="00000700000000000000" pitchFamily="34" charset="0"/>
                <a:ea typeface="Martel SemiBold" panose="00000700000000000000" pitchFamily="34" charset="-122"/>
                <a:cs typeface="Martel SemiBold" panose="00000700000000000000" pitchFamily="34" charset="-120"/>
              </a:rPr>
              <a:t>1</a:t>
            </a:r>
            <a:endParaRPr lang="en-US" sz="1600" dirty="0"/>
          </a:p>
        </p:txBody>
      </p:sp>
      <p:sp>
        <p:nvSpPr>
          <p:cNvPr id="14" name="Text 12"/>
          <p:cNvSpPr/>
          <p:nvPr/>
        </p:nvSpPr>
        <p:spPr>
          <a:xfrm>
            <a:off x="3530512" y="2448699"/>
            <a:ext cx="8102397" cy="280591"/>
          </a:xfrm>
          <a:prstGeom prst="rect">
            <a:avLst/>
          </a:prstGeom>
          <a:noFill/>
        </p:spPr>
        <p:txBody>
          <a:bodyPr wrap="none" lIns="0" tIns="0" rIns="0" bIns="0" rtlCol="0" anchor="t"/>
          <a:lstStyle/>
          <a:p>
            <a:pPr marL="0" indent="0" algn="l">
              <a:lnSpc>
                <a:spcPct val="108000"/>
              </a:lnSpc>
              <a:buNone/>
            </a:pPr>
            <a:r>
              <a:rPr lang="en-US" sz="1700" dirty="0">
                <a:solidFill>
                  <a:srgbClr val="1B2659"/>
                </a:solidFill>
                <a:latin typeface="Kumbh Sans Medium" pitchFamily="34" charset="0"/>
                <a:ea typeface="Kumbh Sans Medium" pitchFamily="34" charset="-122"/>
                <a:cs typeface="Kumbh Sans Medium" pitchFamily="34" charset="-120"/>
              </a:rPr>
              <a:t>Detect intrusion</a:t>
            </a:r>
            <a:endParaRPr lang="en-US" sz="1700" dirty="0"/>
          </a:p>
        </p:txBody>
      </p:sp>
      <p:sp>
        <p:nvSpPr>
          <p:cNvPr id="15" name="Text 13"/>
          <p:cNvSpPr/>
          <p:nvPr/>
        </p:nvSpPr>
        <p:spPr>
          <a:xfrm>
            <a:off x="3530512" y="2778820"/>
            <a:ext cx="8102397" cy="266700"/>
          </a:xfrm>
          <a:prstGeom prst="rect">
            <a:avLst/>
          </a:prstGeom>
          <a:noFill/>
        </p:spPr>
        <p:txBody>
          <a:bodyPr wrap="none" lIns="0" tIns="0" rIns="0" bIns="0" rtlCol="0" anchor="t"/>
          <a:lstStyle/>
          <a:p>
            <a:pPr marL="0" indent="0" algn="l">
              <a:lnSpc>
                <a:spcPct val="117000"/>
              </a:lnSpc>
              <a:buNone/>
            </a:pPr>
            <a:r>
              <a:rPr lang="en-US" sz="1500" dirty="0">
                <a:solidFill>
                  <a:srgbClr val="22262E"/>
                </a:solidFill>
                <a:latin typeface="Kumbh Sans" pitchFamily="34" charset="0"/>
                <a:ea typeface="Kumbh Sans" pitchFamily="34" charset="-122"/>
                <a:cs typeface="Kumbh Sans" pitchFamily="34" charset="-120"/>
              </a:rPr>
              <a:t>Inputs are door sensor </a:t>
            </a:r>
            <a:r>
              <a:rPr lang="en-US" sz="1500" b="1" dirty="0">
                <a:solidFill>
                  <a:srgbClr val="22262E"/>
                </a:solidFill>
                <a:latin typeface="Kumbh Sans Bold" pitchFamily="34" charset="0"/>
                <a:ea typeface="Kumbh Sans Bold" pitchFamily="34" charset="-122"/>
                <a:cs typeface="Kumbh Sans Bold" pitchFamily="34" charset="-120"/>
              </a:rPr>
              <a:t>D</a:t>
            </a:r>
            <a:r>
              <a:rPr lang="en-US" sz="1500" dirty="0">
                <a:solidFill>
                  <a:srgbClr val="22262E"/>
                </a:solidFill>
                <a:latin typeface="Kumbh Sans" pitchFamily="34" charset="0"/>
                <a:ea typeface="Kumbh Sans" pitchFamily="34" charset="-122"/>
                <a:cs typeface="Kumbh Sans" pitchFamily="34" charset="-120"/>
              </a:rPr>
              <a:t>, window sensor </a:t>
            </a:r>
            <a:r>
              <a:rPr lang="en-US" sz="1500" b="1" dirty="0">
                <a:solidFill>
                  <a:srgbClr val="22262E"/>
                </a:solidFill>
                <a:latin typeface="Kumbh Sans Bold" pitchFamily="34" charset="0"/>
                <a:ea typeface="Kumbh Sans Bold" pitchFamily="34" charset="-122"/>
                <a:cs typeface="Kumbh Sans Bold" pitchFamily="34" charset="-120"/>
              </a:rPr>
              <a:t>W</a:t>
            </a:r>
            <a:r>
              <a:rPr lang="en-US" sz="1500" dirty="0">
                <a:solidFill>
                  <a:srgbClr val="22262E"/>
                </a:solidFill>
                <a:latin typeface="Kumbh Sans" pitchFamily="34" charset="0"/>
                <a:ea typeface="Kumbh Sans" pitchFamily="34" charset="-122"/>
                <a:cs typeface="Kumbh Sans" pitchFamily="34" charset="-120"/>
              </a:rPr>
              <a:t>, motion sensor </a:t>
            </a:r>
            <a:r>
              <a:rPr lang="en-US" sz="1500" b="1" dirty="0">
                <a:solidFill>
                  <a:srgbClr val="22262E"/>
                </a:solidFill>
                <a:latin typeface="Kumbh Sans Bold" pitchFamily="34" charset="0"/>
                <a:ea typeface="Kumbh Sans Bold" pitchFamily="34" charset="-122"/>
                <a:cs typeface="Kumbh Sans Bold" pitchFamily="34" charset="-120"/>
              </a:rPr>
              <a:t>M</a:t>
            </a:r>
            <a:r>
              <a:rPr lang="en-US" sz="1500" dirty="0">
                <a:solidFill>
                  <a:srgbClr val="22262E"/>
                </a:solidFill>
                <a:latin typeface="Kumbh Sans" pitchFamily="34" charset="0"/>
                <a:ea typeface="Kumbh Sans" pitchFamily="34" charset="-122"/>
                <a:cs typeface="Kumbh Sans" pitchFamily="34" charset="-120"/>
              </a:rPr>
              <a:t>, and arm signal </a:t>
            </a:r>
            <a:r>
              <a:rPr lang="en-US" sz="1500" b="1" dirty="0">
                <a:solidFill>
                  <a:srgbClr val="22262E"/>
                </a:solidFill>
                <a:latin typeface="Kumbh Sans Bold" pitchFamily="34" charset="0"/>
                <a:ea typeface="Kumbh Sans Bold" pitchFamily="34" charset="-122"/>
                <a:cs typeface="Kumbh Sans Bold" pitchFamily="34" charset="-120"/>
              </a:rPr>
              <a:t>S</a:t>
            </a:r>
            <a:r>
              <a:rPr lang="en-US" sz="1500" dirty="0">
                <a:solidFill>
                  <a:srgbClr val="22262E"/>
                </a:solidFill>
                <a:latin typeface="Kumbh Sans" pitchFamily="34" charset="0"/>
                <a:ea typeface="Kumbh Sans" pitchFamily="34" charset="-122"/>
                <a:cs typeface="Kumbh Sans" pitchFamily="34" charset="-120"/>
              </a:rPr>
              <a:t>.</a:t>
            </a:r>
            <a:endParaRPr lang="en-US" sz="1500" dirty="0"/>
          </a:p>
        </p:txBody>
      </p:sp>
      <p:sp>
        <p:nvSpPr>
          <p:cNvPr id="16" name="Shape 14"/>
          <p:cNvSpPr/>
          <p:nvPr/>
        </p:nvSpPr>
        <p:spPr>
          <a:xfrm>
            <a:off x="2946326" y="3567311"/>
            <a:ext cx="431789" cy="431800"/>
          </a:xfrm>
          <a:prstGeom prst="ellipse">
            <a:avLst/>
          </a:prstGeom>
          <a:noFill/>
          <a:ln w="19050">
            <a:solidFill>
              <a:srgbClr val="8A4E0E"/>
            </a:solidFill>
            <a:prstDash val="solid"/>
          </a:ln>
        </p:spPr>
      </p:sp>
      <p:sp>
        <p:nvSpPr>
          <p:cNvPr id="17" name="Text 15"/>
          <p:cNvSpPr/>
          <p:nvPr/>
        </p:nvSpPr>
        <p:spPr>
          <a:xfrm>
            <a:off x="3101600" y="3681611"/>
            <a:ext cx="730728" cy="203200"/>
          </a:xfrm>
          <a:prstGeom prst="rect">
            <a:avLst/>
          </a:prstGeom>
          <a:noFill/>
        </p:spPr>
        <p:txBody>
          <a:bodyPr wrap="none" lIns="0" tIns="0" rIns="0" bIns="0" rtlCol="0" anchor="t"/>
          <a:lstStyle/>
          <a:p>
            <a:pPr marL="0" indent="0" algn="l">
              <a:lnSpc>
                <a:spcPct val="83000"/>
              </a:lnSpc>
              <a:buNone/>
            </a:pPr>
            <a:r>
              <a:rPr lang="en-US" sz="1600" dirty="0">
                <a:solidFill>
                  <a:srgbClr val="1B2659"/>
                </a:solidFill>
                <a:latin typeface="Martel SemiBold" panose="00000700000000000000" pitchFamily="34" charset="0"/>
                <a:ea typeface="Martel SemiBold" panose="00000700000000000000" pitchFamily="34" charset="-122"/>
                <a:cs typeface="Martel SemiBold" panose="00000700000000000000" pitchFamily="34" charset="-120"/>
              </a:rPr>
              <a:t>2</a:t>
            </a:r>
            <a:endParaRPr lang="en-US" sz="1600" dirty="0"/>
          </a:p>
        </p:txBody>
      </p:sp>
      <p:sp>
        <p:nvSpPr>
          <p:cNvPr id="18" name="Text 16"/>
          <p:cNvSpPr/>
          <p:nvPr/>
        </p:nvSpPr>
        <p:spPr>
          <a:xfrm>
            <a:off x="3530512" y="3630493"/>
            <a:ext cx="8102397" cy="280591"/>
          </a:xfrm>
          <a:prstGeom prst="rect">
            <a:avLst/>
          </a:prstGeom>
          <a:noFill/>
        </p:spPr>
        <p:txBody>
          <a:bodyPr wrap="none" lIns="0" tIns="0" rIns="0" bIns="0" rtlCol="0" anchor="t"/>
          <a:lstStyle/>
          <a:p>
            <a:pPr marL="0" indent="0" algn="l">
              <a:lnSpc>
                <a:spcPct val="108000"/>
              </a:lnSpc>
              <a:buNone/>
            </a:pPr>
            <a:r>
              <a:rPr lang="en-US" sz="1700" dirty="0">
                <a:solidFill>
                  <a:srgbClr val="1B2659"/>
                </a:solidFill>
                <a:latin typeface="Kumbh Sans Medium" pitchFamily="34" charset="0"/>
                <a:ea typeface="Kumbh Sans Medium" pitchFamily="34" charset="-122"/>
                <a:cs typeface="Kumbh Sans Medium" pitchFamily="34" charset="-120"/>
              </a:rPr>
              <a:t>Control the response</a:t>
            </a:r>
            <a:endParaRPr lang="en-US" sz="1700" dirty="0"/>
          </a:p>
        </p:txBody>
      </p:sp>
      <p:sp>
        <p:nvSpPr>
          <p:cNvPr id="19" name="Text 17"/>
          <p:cNvSpPr/>
          <p:nvPr/>
        </p:nvSpPr>
        <p:spPr>
          <a:xfrm>
            <a:off x="3530512" y="3960614"/>
            <a:ext cx="8102397" cy="533400"/>
          </a:xfrm>
          <a:prstGeom prst="rect">
            <a:avLst/>
          </a:prstGeom>
          <a:noFill/>
        </p:spPr>
        <p:txBody>
          <a:bodyPr wrap="square" lIns="0" tIns="0" rIns="0" bIns="0" rtlCol="0" anchor="t">
            <a:normAutofit/>
          </a:bodyPr>
          <a:lstStyle/>
          <a:p>
            <a:pPr marL="0" indent="0" algn="l">
              <a:lnSpc>
                <a:spcPct val="117000"/>
              </a:lnSpc>
              <a:buNone/>
            </a:pPr>
            <a:r>
              <a:rPr lang="en-US" sz="1500" dirty="0">
                <a:solidFill>
                  <a:srgbClr val="22262E"/>
                </a:solidFill>
                <a:latin typeface="Kumbh Sans" pitchFamily="34" charset="0"/>
                <a:ea typeface="Kumbh Sans" pitchFamily="34" charset="-122"/>
                <a:cs typeface="Kumbh Sans" pitchFamily="34" charset="-120"/>
              </a:rPr>
              <a:t>The alarm output </a:t>
            </a:r>
            <a:r>
              <a:rPr lang="en-US" sz="1500" b="1" dirty="0">
                <a:solidFill>
                  <a:srgbClr val="22262E"/>
                </a:solidFill>
                <a:latin typeface="Kumbh Sans Bold" pitchFamily="34" charset="0"/>
                <a:ea typeface="Kumbh Sans Bold" pitchFamily="34" charset="-122"/>
                <a:cs typeface="Kumbh Sans Bold" pitchFamily="34" charset="-120"/>
              </a:rPr>
              <a:t>A</a:t>
            </a:r>
            <a:r>
              <a:rPr lang="en-US" sz="1500" dirty="0">
                <a:solidFill>
                  <a:srgbClr val="22262E"/>
                </a:solidFill>
                <a:latin typeface="Kumbh Sans" pitchFamily="34" charset="0"/>
                <a:ea typeface="Kumbh Sans" pitchFamily="34" charset="-122"/>
                <a:cs typeface="Kumbh Sans" pitchFamily="34" charset="-120"/>
              </a:rPr>
              <a:t> becomes HIGH when a protected entry is triggered while the system is armed.</a:t>
            </a:r>
            <a:endParaRPr lang="en-US" sz="1500" dirty="0"/>
          </a:p>
        </p:txBody>
      </p:sp>
      <p:sp>
        <p:nvSpPr>
          <p:cNvPr id="20" name="Shape 18"/>
          <p:cNvSpPr/>
          <p:nvPr/>
        </p:nvSpPr>
        <p:spPr>
          <a:xfrm>
            <a:off x="2946326" y="5015805"/>
            <a:ext cx="431789" cy="431800"/>
          </a:xfrm>
          <a:prstGeom prst="ellipse">
            <a:avLst/>
          </a:prstGeom>
          <a:noFill/>
          <a:ln w="19050">
            <a:solidFill>
              <a:srgbClr val="8A4E0E"/>
            </a:solidFill>
            <a:prstDash val="solid"/>
          </a:ln>
        </p:spPr>
      </p:sp>
      <p:sp>
        <p:nvSpPr>
          <p:cNvPr id="21" name="Text 19"/>
          <p:cNvSpPr/>
          <p:nvPr/>
        </p:nvSpPr>
        <p:spPr>
          <a:xfrm>
            <a:off x="3108942" y="5130105"/>
            <a:ext cx="716143" cy="203200"/>
          </a:xfrm>
          <a:prstGeom prst="rect">
            <a:avLst/>
          </a:prstGeom>
          <a:noFill/>
        </p:spPr>
        <p:txBody>
          <a:bodyPr wrap="none" lIns="0" tIns="0" rIns="0" bIns="0" rtlCol="0" anchor="t"/>
          <a:lstStyle/>
          <a:p>
            <a:pPr marL="0" indent="0" algn="l">
              <a:lnSpc>
                <a:spcPct val="83000"/>
              </a:lnSpc>
              <a:buNone/>
            </a:pPr>
            <a:r>
              <a:rPr lang="en-US" sz="1600" dirty="0">
                <a:solidFill>
                  <a:srgbClr val="1B2659"/>
                </a:solidFill>
                <a:latin typeface="Martel SemiBold" panose="00000700000000000000" pitchFamily="34" charset="0"/>
                <a:ea typeface="Martel SemiBold" panose="00000700000000000000" pitchFamily="34" charset="-122"/>
                <a:cs typeface="Martel SemiBold" panose="00000700000000000000" pitchFamily="34" charset="-120"/>
              </a:rPr>
              <a:t>3</a:t>
            </a:r>
            <a:endParaRPr lang="en-US" sz="1600" dirty="0"/>
          </a:p>
        </p:txBody>
      </p:sp>
      <p:sp>
        <p:nvSpPr>
          <p:cNvPr id="22" name="Text 20"/>
          <p:cNvSpPr/>
          <p:nvPr/>
        </p:nvSpPr>
        <p:spPr>
          <a:xfrm>
            <a:off x="3530512" y="5078988"/>
            <a:ext cx="8102397" cy="280591"/>
          </a:xfrm>
          <a:prstGeom prst="rect">
            <a:avLst/>
          </a:prstGeom>
          <a:noFill/>
        </p:spPr>
        <p:txBody>
          <a:bodyPr wrap="none" lIns="0" tIns="0" rIns="0" bIns="0" rtlCol="0" anchor="t"/>
          <a:lstStyle/>
          <a:p>
            <a:pPr marL="0" indent="0" algn="l">
              <a:lnSpc>
                <a:spcPct val="108000"/>
              </a:lnSpc>
              <a:buNone/>
            </a:pPr>
            <a:r>
              <a:rPr lang="en-US" sz="1700" dirty="0">
                <a:solidFill>
                  <a:srgbClr val="1B2659"/>
                </a:solidFill>
                <a:latin typeface="Kumbh Sans Medium" pitchFamily="34" charset="0"/>
                <a:ea typeface="Kumbh Sans Medium" pitchFamily="34" charset="-122"/>
                <a:cs typeface="Kumbh Sans Medium" pitchFamily="34" charset="-120"/>
              </a:rPr>
              <a:t>Verify the design</a:t>
            </a:r>
            <a:endParaRPr lang="en-US" sz="1700" dirty="0"/>
          </a:p>
        </p:txBody>
      </p:sp>
      <p:sp>
        <p:nvSpPr>
          <p:cNvPr id="23" name="Text 21"/>
          <p:cNvSpPr/>
          <p:nvPr/>
        </p:nvSpPr>
        <p:spPr>
          <a:xfrm>
            <a:off x="3530512" y="5409109"/>
            <a:ext cx="8102397" cy="266700"/>
          </a:xfrm>
          <a:prstGeom prst="rect">
            <a:avLst/>
          </a:prstGeom>
          <a:noFill/>
        </p:spPr>
        <p:txBody>
          <a:bodyPr wrap="none" lIns="0" tIns="0" rIns="0" bIns="0" rtlCol="0" anchor="t"/>
          <a:lstStyle/>
          <a:p>
            <a:pPr marL="0" indent="0" algn="l">
              <a:lnSpc>
                <a:spcPct val="117000"/>
              </a:lnSpc>
              <a:buNone/>
            </a:pPr>
            <a:r>
              <a:rPr lang="en-US" sz="1500" dirty="0">
                <a:solidFill>
                  <a:srgbClr val="22262E"/>
                </a:solidFill>
                <a:latin typeface="Kumbh Sans" pitchFamily="34" charset="0"/>
                <a:ea typeface="Kumbh Sans" pitchFamily="34" charset="-122"/>
                <a:cs typeface="Kumbh Sans" pitchFamily="34" charset="-120"/>
              </a:rPr>
              <a:t>Translate the requirement into Boolean logic, then verify it in Logisim.</a:t>
            </a:r>
            <a:endParaRPr lang="en-US" sz="1500" dirty="0"/>
          </a:p>
        </p:txBody>
      </p:sp>
      <p:sp>
        <p:nvSpPr>
          <p:cNvPr id="24" name="Shape 22"/>
          <p:cNvSpPr/>
          <p:nvPr/>
        </p:nvSpPr>
        <p:spPr>
          <a:xfrm>
            <a:off x="2431989" y="0"/>
            <a:ext cx="12700" cy="6858000"/>
          </a:xfrm>
          <a:prstGeom prst="rect">
            <a:avLst/>
          </a:prstGeom>
          <a:solidFill>
            <a:srgbClr val="E3A33B"/>
          </a:solidFill>
        </p:spPr>
      </p:sp>
      <p:sp>
        <p:nvSpPr>
          <p:cNvPr id="25" name="Shape 23"/>
          <p:cNvSpPr/>
          <p:nvPr/>
        </p:nvSpPr>
        <p:spPr>
          <a:xfrm>
            <a:off x="2946326" y="3433961"/>
            <a:ext cx="8686583" cy="12700"/>
          </a:xfrm>
          <a:prstGeom prst="rect">
            <a:avLst/>
          </a:prstGeom>
          <a:solidFill>
            <a:srgbClr val="E3A33B"/>
          </a:solidFill>
        </p:spPr>
      </p:sp>
      <p:sp>
        <p:nvSpPr>
          <p:cNvPr id="26" name="Shape 24"/>
          <p:cNvSpPr/>
          <p:nvPr/>
        </p:nvSpPr>
        <p:spPr>
          <a:xfrm>
            <a:off x="2946326" y="4882455"/>
            <a:ext cx="8686583" cy="12700"/>
          </a:xfrm>
          <a:prstGeom prst="rect">
            <a:avLst/>
          </a:prstGeom>
          <a:solidFill>
            <a:srgbClr val="E3A33B"/>
          </a:solidFill>
        </p:spPr>
      </p:sp>
      <p:sp>
        <p:nvSpPr>
          <p:cNvPr id="27" name="Text 25"/>
          <p:cNvSpPr/>
          <p:nvPr/>
        </p:nvSpPr>
        <p:spPr>
          <a:xfrm>
            <a:off x="609585" y="6446540"/>
            <a:ext cx="1161624" cy="213320"/>
          </a:xfrm>
          <a:prstGeom prst="rect">
            <a:avLst/>
          </a:prstGeom>
          <a:noFill/>
        </p:spPr>
        <p:txBody>
          <a:bodyPr wrap="none" lIns="0" tIns="0" rIns="0" bIns="0" rtlCol="0" anchor="ctr"/>
          <a:lstStyle/>
          <a:p>
            <a:pPr marL="0" indent="0" algn="l">
              <a:lnSpc>
                <a:spcPct val="117000"/>
              </a:lnSpc>
              <a:buNone/>
            </a:pPr>
            <a:r>
              <a:rPr lang="en-US" sz="1200" kern="100" spc="48" dirty="0">
                <a:solidFill>
                  <a:srgbClr val="E3A33B"/>
                </a:solidFill>
                <a:latin typeface="Martel SemiBold" panose="00000700000000000000" pitchFamily="34" charset="0"/>
                <a:ea typeface="Martel SemiBold" panose="00000700000000000000" pitchFamily="34" charset="-122"/>
                <a:cs typeface="Martel SemiBold" panose="00000700000000000000" pitchFamily="34" charset="-120"/>
              </a:rPr>
              <a:t>02 / 07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438339" cy="6858000"/>
          </a:xfrm>
          <a:prstGeom prst="rect">
            <a:avLst/>
          </a:prstGeom>
          <a:solidFill>
            <a:srgbClr val="1B2659"/>
          </a:solidFill>
        </p:spPr>
      </p:sp>
      <p:sp>
        <p:nvSpPr>
          <p:cNvPr id="3" name="Shape 1"/>
          <p:cNvSpPr/>
          <p:nvPr/>
        </p:nvSpPr>
        <p:spPr>
          <a:xfrm>
            <a:off x="279294" y="330200"/>
            <a:ext cx="660284" cy="660301"/>
          </a:xfrm>
          <a:prstGeom prst="ellipse">
            <a:avLst/>
          </a:prstGeom>
          <a:noFill/>
          <a:ln w="19050">
            <a:solidFill>
              <a:srgbClr val="E3A33B"/>
            </a:solidFill>
            <a:prstDash val="solid"/>
          </a:ln>
        </p:spPr>
      </p:sp>
      <p:sp>
        <p:nvSpPr>
          <p:cNvPr id="4" name="Text 2"/>
          <p:cNvSpPr/>
          <p:nvPr/>
        </p:nvSpPr>
        <p:spPr>
          <a:xfrm>
            <a:off x="279393" y="1246886"/>
            <a:ext cx="2158946" cy="182860"/>
          </a:xfrm>
          <a:prstGeom prst="rect">
            <a:avLst/>
          </a:prstGeom>
          <a:noFill/>
        </p:spPr>
        <p:txBody>
          <a:bodyPr wrap="none" lIns="0" tIns="0" rIns="0" bIns="0" rtlCol="0" anchor="t"/>
          <a:lstStyle/>
          <a:p>
            <a:pPr marL="0" indent="0" algn="l">
              <a:lnSpc>
                <a:spcPct val="100000"/>
              </a:lnSpc>
              <a:buNone/>
            </a:pPr>
            <a:r>
              <a:rPr lang="en-US" sz="1200" kern="100" spc="168" dirty="0">
                <a:solidFill>
                  <a:srgbClr val="E3A33B"/>
                </a:solidFill>
                <a:latin typeface="Kumbh Sans SemiBold" pitchFamily="34" charset="0"/>
                <a:ea typeface="Kumbh Sans SemiBold" pitchFamily="34" charset="-122"/>
                <a:cs typeface="Kumbh Sans SemiBold" pitchFamily="34" charset="-120"/>
              </a:rPr>
              <a:t>PROJECT 02</a:t>
            </a:r>
            <a:endParaRPr lang="en-US" sz="1200" dirty="0"/>
          </a:p>
        </p:txBody>
      </p:sp>
      <p:sp>
        <p:nvSpPr>
          <p:cNvPr id="5" name="Text 3"/>
          <p:cNvSpPr/>
          <p:nvPr/>
        </p:nvSpPr>
        <p:spPr>
          <a:xfrm>
            <a:off x="279393" y="1521123"/>
            <a:ext cx="2158946" cy="266700"/>
          </a:xfrm>
          <a:prstGeom prst="rect">
            <a:avLst/>
          </a:prstGeom>
          <a:noFill/>
        </p:spPr>
        <p:txBody>
          <a:bodyPr wrap="none" lIns="0" tIns="0" rIns="0" bIns="0" rtlCol="0" anchor="t"/>
          <a:lstStyle/>
          <a:p>
            <a:pPr marL="0" indent="0" algn="l">
              <a:lnSpc>
                <a:spcPct val="117000"/>
              </a:lnSpc>
              <a:buNone/>
            </a:pPr>
            <a:r>
              <a:rPr lang="en-US" sz="1500" dirty="0">
                <a:solidFill>
                  <a:srgbClr val="FFFFFF"/>
                </a:solidFill>
                <a:latin typeface="Kumbh Sans" pitchFamily="34" charset="0"/>
                <a:ea typeface="Kumbh Sans" pitchFamily="34" charset="-122"/>
                <a:cs typeface="Kumbh Sans" pitchFamily="34" charset="-120"/>
              </a:rPr>
              <a:t>Smart Home Security</a:t>
            </a:r>
            <a:endParaRPr lang="en-US" sz="1500" dirty="0"/>
          </a:p>
        </p:txBody>
      </p:sp>
      <p:sp>
        <p:nvSpPr>
          <p:cNvPr id="6" name="Shape 4"/>
          <p:cNvSpPr/>
          <p:nvPr/>
        </p:nvSpPr>
        <p:spPr>
          <a:xfrm>
            <a:off x="279393" y="1924348"/>
            <a:ext cx="482588" cy="31651"/>
          </a:xfrm>
          <a:prstGeom prst="roundRect">
            <a:avLst>
              <a:gd name="adj" fmla="val 49998"/>
            </a:avLst>
          </a:prstGeom>
          <a:solidFill>
            <a:srgbClr val="E3A33B"/>
          </a:solidFill>
        </p:spPr>
      </p:sp>
      <p:sp>
        <p:nvSpPr>
          <p:cNvPr id="7" name="Text 5"/>
          <p:cNvSpPr/>
          <p:nvPr/>
        </p:nvSpPr>
        <p:spPr>
          <a:xfrm>
            <a:off x="279393" y="2099671"/>
            <a:ext cx="2158946" cy="182860"/>
          </a:xfrm>
          <a:prstGeom prst="rect">
            <a:avLst/>
          </a:prstGeom>
          <a:noFill/>
        </p:spPr>
        <p:txBody>
          <a:bodyPr wrap="none" lIns="0" tIns="0" rIns="0" bIns="0" rtlCol="0" anchor="t"/>
          <a:lstStyle/>
          <a:p>
            <a:pPr marL="0" indent="0" algn="l">
              <a:lnSpc>
                <a:spcPct val="100000"/>
              </a:lnSpc>
              <a:buNone/>
            </a:pPr>
            <a:r>
              <a:rPr lang="en-US" sz="1200" kern="100" spc="168" dirty="0">
                <a:solidFill>
                  <a:srgbClr val="FFFFFF"/>
                </a:solidFill>
                <a:latin typeface="Kumbh Sans SemiBold" pitchFamily="34" charset="0"/>
                <a:ea typeface="Kumbh Sans SemiBold" pitchFamily="34" charset="-122"/>
                <a:cs typeface="Kumbh Sans SemiBold" pitchFamily="34" charset="-120"/>
              </a:rPr>
              <a:t>THEORY</a:t>
            </a:r>
            <a:endParaRPr lang="en-US" sz="1200" dirty="0"/>
          </a:p>
        </p:txBody>
      </p:sp>
      <p:sp>
        <p:nvSpPr>
          <p:cNvPr id="8" name="Text 6"/>
          <p:cNvSpPr/>
          <p:nvPr/>
        </p:nvSpPr>
        <p:spPr>
          <a:xfrm>
            <a:off x="279393" y="5561806"/>
            <a:ext cx="1930352" cy="412750"/>
          </a:xfrm>
          <a:prstGeom prst="rect">
            <a:avLst/>
          </a:prstGeom>
          <a:noFill/>
        </p:spPr>
        <p:txBody>
          <a:bodyPr wrap="square" lIns="0" tIns="0" rIns="0" bIns="0" rtlCol="0" anchor="t">
            <a:normAutofit/>
          </a:bodyPr>
          <a:lstStyle/>
          <a:p>
            <a:pPr marL="0" indent="0" algn="l">
              <a:lnSpc>
                <a:spcPct val="108000"/>
              </a:lnSpc>
              <a:buNone/>
            </a:pPr>
            <a:r>
              <a:rPr lang="en-US" sz="1250" kern="100" spc="12" dirty="0">
                <a:solidFill>
                  <a:srgbClr val="FFFFFF"/>
                </a:solidFill>
                <a:latin typeface="Kumbh Sans" pitchFamily="34" charset="0"/>
                <a:ea typeface="Kumbh Sans" pitchFamily="34" charset="-122"/>
                <a:cs typeface="Kumbh Sans" pitchFamily="34" charset="-120"/>
              </a:rPr>
              <a:t>Boolean logic · Signal flow</a:t>
            </a:r>
            <a:endParaRPr lang="en-US" sz="1250" dirty="0"/>
          </a:p>
        </p:txBody>
      </p:sp>
      <p:sp>
        <p:nvSpPr>
          <p:cNvPr id="9" name="Text 7"/>
          <p:cNvSpPr/>
          <p:nvPr/>
        </p:nvSpPr>
        <p:spPr>
          <a:xfrm>
            <a:off x="2946326" y="438467"/>
            <a:ext cx="8686583" cy="822920"/>
          </a:xfrm>
          <a:prstGeom prst="rect">
            <a:avLst/>
          </a:prstGeom>
          <a:noFill/>
        </p:spPr>
        <p:txBody>
          <a:bodyPr wrap="square" lIns="0" tIns="0" rIns="0" bIns="0" rtlCol="0" anchor="t">
            <a:normAutofit/>
          </a:bodyPr>
          <a:lstStyle/>
          <a:p>
            <a:pPr marL="0" indent="0" algn="l">
              <a:lnSpc>
                <a:spcPct val="90000"/>
              </a:lnSpc>
              <a:buNone/>
            </a:pPr>
            <a:r>
              <a:rPr lang="en-US" sz="3000" kern="100" spc="-30" dirty="0">
                <a:solidFill>
                  <a:srgbClr val="1B2659"/>
                </a:solidFill>
                <a:latin typeface="Martel ExtraBold" panose="00000900000000000000" pitchFamily="34" charset="0"/>
                <a:ea typeface="Martel ExtraBold" panose="00000900000000000000" pitchFamily="34" charset="-122"/>
                <a:cs typeface="Martel ExtraBold" panose="00000900000000000000" pitchFamily="34" charset="-120"/>
              </a:rPr>
              <a:t>The alarm logic combines detection with system status</a:t>
            </a:r>
            <a:endParaRPr lang="en-US" sz="3000" dirty="0"/>
          </a:p>
        </p:txBody>
      </p:sp>
      <p:sp>
        <p:nvSpPr>
          <p:cNvPr id="10" name="Shape 8"/>
          <p:cNvSpPr/>
          <p:nvPr/>
        </p:nvSpPr>
        <p:spPr>
          <a:xfrm>
            <a:off x="2946326" y="1523008"/>
            <a:ext cx="8686583" cy="31651"/>
          </a:xfrm>
          <a:prstGeom prst="roundRect">
            <a:avLst>
              <a:gd name="adj" fmla="val 49998"/>
            </a:avLst>
          </a:prstGeom>
          <a:solidFill>
            <a:srgbClr val="E3A33B"/>
          </a:solidFill>
        </p:spPr>
      </p:sp>
      <p:pic>
        <p:nvPicPr>
          <p:cNvPr id="11" name="Image 0" descr="preencoded.png"/>
          <p:cNvPicPr>
            <a:picLocks noChangeAspect="1"/>
          </p:cNvPicPr>
          <p:nvPr/>
        </p:nvPicPr>
        <p:blipFill>
          <a:blip r:embed="rId3"/>
          <a:stretch>
            <a:fillRect/>
          </a:stretch>
        </p:blipFill>
        <p:spPr>
          <a:xfrm>
            <a:off x="2946326" y="2791123"/>
            <a:ext cx="5308467" cy="2289175"/>
          </a:xfrm>
          <a:prstGeom prst="rect">
            <a:avLst/>
          </a:prstGeom>
        </p:spPr>
      </p:pic>
      <p:sp>
        <p:nvSpPr>
          <p:cNvPr id="12" name="Text 9"/>
          <p:cNvSpPr/>
          <p:nvPr/>
        </p:nvSpPr>
        <p:spPr>
          <a:xfrm>
            <a:off x="3304859" y="3057985"/>
            <a:ext cx="2919267" cy="156379"/>
          </a:xfrm>
          <a:prstGeom prst="rect">
            <a:avLst/>
          </a:prstGeom>
          <a:noFill/>
        </p:spPr>
        <p:txBody>
          <a:bodyPr wrap="none" lIns="0" tIns="0" rIns="0" bIns="0" rtlCol="0" anchor="t"/>
          <a:lstStyle/>
          <a:p>
            <a:pPr marL="0" indent="0" algn="l">
              <a:lnSpc>
                <a:spcPct val="108000"/>
              </a:lnSpc>
              <a:buNone/>
            </a:pPr>
            <a:r>
              <a:rPr lang="en-US" sz="950" kern="100" spc="-9" dirty="0">
                <a:solidFill>
                  <a:srgbClr val="000000"/>
                </a:solidFill>
                <a:latin typeface="Martel ExtraBold" panose="00000900000000000000" pitchFamily="34" charset="0"/>
                <a:ea typeface="Martel ExtraBold" panose="00000900000000000000" pitchFamily="34" charset="-122"/>
                <a:cs typeface="Martel ExtraBold" panose="00000900000000000000" pitchFamily="34" charset="-120"/>
              </a:rPr>
              <a:t>D W M</a:t>
            </a:r>
            <a:endParaRPr lang="en-US" sz="950" dirty="0"/>
          </a:p>
        </p:txBody>
      </p:sp>
      <p:sp>
        <p:nvSpPr>
          <p:cNvPr id="13" name="Text 10"/>
          <p:cNvSpPr/>
          <p:nvPr/>
        </p:nvSpPr>
        <p:spPr>
          <a:xfrm>
            <a:off x="3304859" y="3588834"/>
            <a:ext cx="2919267" cy="156380"/>
          </a:xfrm>
          <a:prstGeom prst="rect">
            <a:avLst/>
          </a:prstGeom>
          <a:noFill/>
        </p:spPr>
        <p:txBody>
          <a:bodyPr wrap="none" lIns="0" tIns="0" rIns="0" bIns="0" rtlCol="0" anchor="t"/>
          <a:lstStyle/>
          <a:p>
            <a:pPr marL="0" indent="0" algn="l">
              <a:lnSpc>
                <a:spcPct val="108000"/>
              </a:lnSpc>
              <a:buNone/>
            </a:pPr>
            <a:r>
              <a:rPr lang="en-US" sz="950" kern="100" spc="-9" dirty="0">
                <a:solidFill>
                  <a:srgbClr val="000000"/>
                </a:solidFill>
                <a:latin typeface="Martel ExtraBold" panose="00000900000000000000" pitchFamily="34" charset="0"/>
                <a:ea typeface="Martel ExtraBold" panose="00000900000000000000" pitchFamily="34" charset="-122"/>
                <a:cs typeface="Martel ExtraBold" panose="00000900000000000000" pitchFamily="34" charset="-120"/>
              </a:rPr>
              <a:t>I = OR</a:t>
            </a:r>
            <a:endParaRPr lang="en-US" sz="950" dirty="0"/>
          </a:p>
        </p:txBody>
      </p:sp>
      <p:sp>
        <p:nvSpPr>
          <p:cNvPr id="14" name="Text 11"/>
          <p:cNvSpPr/>
          <p:nvPr/>
        </p:nvSpPr>
        <p:spPr>
          <a:xfrm>
            <a:off x="3304859" y="4114375"/>
            <a:ext cx="2919267" cy="156380"/>
          </a:xfrm>
          <a:prstGeom prst="rect">
            <a:avLst/>
          </a:prstGeom>
          <a:noFill/>
        </p:spPr>
        <p:txBody>
          <a:bodyPr wrap="none" lIns="0" tIns="0" rIns="0" bIns="0" rtlCol="0" anchor="t"/>
          <a:lstStyle/>
          <a:p>
            <a:pPr marL="0" indent="0" algn="l">
              <a:lnSpc>
                <a:spcPct val="108000"/>
              </a:lnSpc>
              <a:buNone/>
            </a:pPr>
            <a:r>
              <a:rPr lang="en-US" sz="950" kern="100" spc="-9" dirty="0">
                <a:solidFill>
                  <a:srgbClr val="000000"/>
                </a:solidFill>
                <a:latin typeface="Martel ExtraBold" panose="00000900000000000000" pitchFamily="34" charset="0"/>
                <a:ea typeface="Martel ExtraBold" panose="00000900000000000000" pitchFamily="34" charset="-122"/>
                <a:cs typeface="Martel ExtraBold" panose="00000900000000000000" pitchFamily="34" charset="-120"/>
              </a:rPr>
              <a:t>I · S</a:t>
            </a:r>
            <a:endParaRPr lang="en-US" sz="950" dirty="0"/>
          </a:p>
        </p:txBody>
      </p:sp>
      <p:sp>
        <p:nvSpPr>
          <p:cNvPr id="15" name="Text 12"/>
          <p:cNvSpPr/>
          <p:nvPr/>
        </p:nvSpPr>
        <p:spPr>
          <a:xfrm>
            <a:off x="3304859" y="4639916"/>
            <a:ext cx="2919267" cy="156379"/>
          </a:xfrm>
          <a:prstGeom prst="rect">
            <a:avLst/>
          </a:prstGeom>
          <a:noFill/>
        </p:spPr>
        <p:txBody>
          <a:bodyPr wrap="none" lIns="0" tIns="0" rIns="0" bIns="0" rtlCol="0" anchor="t"/>
          <a:lstStyle/>
          <a:p>
            <a:pPr marL="0" indent="0" algn="l">
              <a:lnSpc>
                <a:spcPct val="108000"/>
              </a:lnSpc>
              <a:buNone/>
            </a:pPr>
            <a:r>
              <a:rPr lang="en-US" sz="950" kern="100" spc="-9" dirty="0">
                <a:solidFill>
                  <a:srgbClr val="000000"/>
                </a:solidFill>
                <a:latin typeface="Martel ExtraBold" panose="00000900000000000000" pitchFamily="34" charset="0"/>
                <a:ea typeface="Martel ExtraBold" panose="00000900000000000000" pitchFamily="34" charset="-122"/>
                <a:cs typeface="Martel ExtraBold" panose="00000900000000000000" pitchFamily="34" charset="-120"/>
              </a:rPr>
              <a:t>A</a:t>
            </a:r>
            <a:endParaRPr lang="en-US" sz="950" dirty="0"/>
          </a:p>
        </p:txBody>
      </p:sp>
      <p:sp>
        <p:nvSpPr>
          <p:cNvPr id="16" name="Shape 13"/>
          <p:cNvSpPr/>
          <p:nvPr/>
        </p:nvSpPr>
        <p:spPr>
          <a:xfrm>
            <a:off x="8559487" y="2193131"/>
            <a:ext cx="2033140" cy="336649"/>
          </a:xfrm>
          <a:prstGeom prst="roundRect">
            <a:avLst>
              <a:gd name="adj" fmla="val 3395"/>
            </a:avLst>
          </a:prstGeom>
          <a:solidFill>
            <a:srgbClr val="F9EAD2"/>
          </a:solidFill>
        </p:spPr>
      </p:sp>
      <p:sp>
        <p:nvSpPr>
          <p:cNvPr id="17" name="Text 14"/>
          <p:cNvSpPr/>
          <p:nvPr/>
        </p:nvSpPr>
        <p:spPr>
          <a:xfrm>
            <a:off x="8688964" y="2267918"/>
            <a:ext cx="2383770" cy="207268"/>
          </a:xfrm>
          <a:prstGeom prst="rect">
            <a:avLst/>
          </a:prstGeom>
          <a:noFill/>
        </p:spPr>
        <p:txBody>
          <a:bodyPr wrap="none" lIns="0" tIns="0" rIns="0" bIns="0" rtlCol="0" anchor="t"/>
          <a:lstStyle/>
          <a:p>
            <a:pPr marL="0" indent="0" algn="l">
              <a:lnSpc>
                <a:spcPct val="100000"/>
              </a:lnSpc>
              <a:buNone/>
            </a:pPr>
            <a:r>
              <a:rPr lang="en-US" sz="1350" kern="100" spc="190" dirty="0">
                <a:solidFill>
                  <a:srgbClr val="22262E"/>
                </a:solidFill>
                <a:latin typeface="Kumbh Sans SemiBold" pitchFamily="34" charset="0"/>
                <a:ea typeface="Kumbh Sans SemiBold" pitchFamily="34" charset="-122"/>
                <a:cs typeface="Kumbh Sans SemiBold" pitchFamily="34" charset="-120"/>
              </a:rPr>
              <a:t>CORE EQUATION</a:t>
            </a:r>
            <a:endParaRPr lang="en-US" sz="1350" dirty="0"/>
          </a:p>
        </p:txBody>
      </p:sp>
      <p:sp>
        <p:nvSpPr>
          <p:cNvPr id="18" name="Text 15"/>
          <p:cNvSpPr/>
          <p:nvPr/>
        </p:nvSpPr>
        <p:spPr>
          <a:xfrm>
            <a:off x="8559487" y="2615505"/>
            <a:ext cx="3073323" cy="1119584"/>
          </a:xfrm>
          <a:prstGeom prst="rect">
            <a:avLst/>
          </a:prstGeom>
          <a:noFill/>
        </p:spPr>
        <p:txBody>
          <a:bodyPr wrap="square" lIns="0" tIns="0" rIns="0" bIns="0" rtlCol="0" anchor="t">
            <a:normAutofit/>
          </a:bodyPr>
          <a:lstStyle/>
          <a:p>
            <a:pPr marL="0" indent="0" algn="l">
              <a:lnSpc>
                <a:spcPct val="97000"/>
              </a:lnSpc>
              <a:buNone/>
            </a:pPr>
            <a:r>
              <a:rPr lang="en-US" sz="3800" kern="100" spc="-38" dirty="0">
                <a:solidFill>
                  <a:srgbClr val="1B2659"/>
                </a:solidFill>
                <a:latin typeface="Martel ExtraBold" panose="00000900000000000000" pitchFamily="34" charset="0"/>
                <a:ea typeface="Martel ExtraBold" panose="00000900000000000000" pitchFamily="34" charset="-122"/>
                <a:cs typeface="Martel ExtraBold" panose="00000900000000000000" pitchFamily="34" charset="-120"/>
              </a:rPr>
              <a:t>A = S(D + W + M)</a:t>
            </a:r>
            <a:endParaRPr lang="en-US" sz="3800" dirty="0"/>
          </a:p>
        </p:txBody>
      </p:sp>
      <p:sp>
        <p:nvSpPr>
          <p:cNvPr id="19" name="Text 16"/>
          <p:cNvSpPr/>
          <p:nvPr/>
        </p:nvSpPr>
        <p:spPr>
          <a:xfrm>
            <a:off x="8559487" y="3950990"/>
            <a:ext cx="3073323" cy="1727200"/>
          </a:xfrm>
          <a:prstGeom prst="rect">
            <a:avLst/>
          </a:prstGeom>
          <a:noFill/>
        </p:spPr>
        <p:txBody>
          <a:bodyPr wrap="square" lIns="0" tIns="0" rIns="0" bIns="0" rtlCol="0" anchor="t">
            <a:normAutofit/>
          </a:bodyPr>
          <a:lstStyle/>
          <a:p>
            <a:pPr marL="0" indent="0" algn="l">
              <a:lnSpc>
                <a:spcPct val="117000"/>
              </a:lnSpc>
              <a:buNone/>
            </a:pPr>
            <a:r>
              <a:rPr lang="en-US" sz="1500" b="1" dirty="0">
                <a:solidFill>
                  <a:srgbClr val="22262E"/>
                </a:solidFill>
                <a:latin typeface="Kumbh Sans Bold" pitchFamily="34" charset="0"/>
                <a:ea typeface="Kumbh Sans Bold" pitchFamily="34" charset="-122"/>
                <a:cs typeface="Kumbh Sans Bold" pitchFamily="34" charset="-120"/>
              </a:rPr>
              <a:t>I = D + W + M</a:t>
            </a:r>
            <a:endParaRPr lang="en-US" sz="1500" dirty="0"/>
          </a:p>
          <a:p>
            <a:pPr marL="0" indent="0" algn="l">
              <a:lnSpc>
                <a:spcPct val="117000"/>
              </a:lnSpc>
              <a:spcAft>
                <a:spcPts val="950"/>
              </a:spcAft>
              <a:buNone/>
            </a:pPr>
            <a:r>
              <a:rPr lang="en-US" sz="1500" dirty="0">
                <a:solidFill>
                  <a:srgbClr val="22262E"/>
                </a:solidFill>
                <a:latin typeface="Kumbh Sans" pitchFamily="34" charset="0"/>
                <a:ea typeface="Kumbh Sans" pitchFamily="34" charset="-122"/>
                <a:cs typeface="Kumbh Sans" pitchFamily="34" charset="-120"/>
              </a:rPr>
              <a:t>The OR gate detects any active sensor.</a:t>
            </a:r>
            <a:endParaRPr lang="en-US" sz="1500" dirty="0"/>
          </a:p>
          <a:p>
            <a:pPr marL="0" indent="0" algn="l">
              <a:lnSpc>
                <a:spcPct val="117000"/>
              </a:lnSpc>
              <a:buNone/>
            </a:pPr>
            <a:r>
              <a:rPr lang="en-US" sz="1500" b="1" dirty="0">
                <a:solidFill>
                  <a:srgbClr val="22262E"/>
                </a:solidFill>
                <a:latin typeface="Kumbh Sans Bold" pitchFamily="34" charset="0"/>
                <a:ea typeface="Kumbh Sans Bold" pitchFamily="34" charset="-122"/>
                <a:cs typeface="Kumbh Sans Bold" pitchFamily="34" charset="-120"/>
              </a:rPr>
              <a:t>A = S · I</a:t>
            </a:r>
            <a:endParaRPr lang="en-US" sz="1500" dirty="0"/>
          </a:p>
          <a:p>
            <a:pPr marL="0" indent="0" algn="l">
              <a:lnSpc>
                <a:spcPct val="117000"/>
              </a:lnSpc>
              <a:buNone/>
            </a:pPr>
            <a:r>
              <a:rPr lang="en-US" sz="1500" dirty="0">
                <a:solidFill>
                  <a:srgbClr val="22262E"/>
                </a:solidFill>
                <a:latin typeface="Kumbh Sans" pitchFamily="34" charset="0"/>
                <a:ea typeface="Kumbh Sans" pitchFamily="34" charset="-122"/>
                <a:cs typeface="Kumbh Sans" pitchFamily="34" charset="-120"/>
              </a:rPr>
              <a:t>The AND gate blocks the alarm whenever the system is disarmed.</a:t>
            </a:r>
            <a:endParaRPr lang="en-US" sz="1500" dirty="0"/>
          </a:p>
        </p:txBody>
      </p:sp>
      <p:sp>
        <p:nvSpPr>
          <p:cNvPr id="20" name="Shape 17"/>
          <p:cNvSpPr/>
          <p:nvPr/>
        </p:nvSpPr>
        <p:spPr>
          <a:xfrm>
            <a:off x="2431989" y="0"/>
            <a:ext cx="12700" cy="6858000"/>
          </a:xfrm>
          <a:prstGeom prst="rect">
            <a:avLst/>
          </a:prstGeom>
          <a:solidFill>
            <a:srgbClr val="E3A33B"/>
          </a:solidFill>
        </p:spPr>
      </p:sp>
      <p:sp>
        <p:nvSpPr>
          <p:cNvPr id="21" name="Text 18"/>
          <p:cNvSpPr/>
          <p:nvPr/>
        </p:nvSpPr>
        <p:spPr>
          <a:xfrm>
            <a:off x="609585" y="6446540"/>
            <a:ext cx="1150611" cy="213320"/>
          </a:xfrm>
          <a:prstGeom prst="rect">
            <a:avLst/>
          </a:prstGeom>
          <a:noFill/>
        </p:spPr>
        <p:txBody>
          <a:bodyPr wrap="none" lIns="0" tIns="0" rIns="0" bIns="0" rtlCol="0" anchor="ctr"/>
          <a:lstStyle/>
          <a:p>
            <a:pPr marL="0" indent="0" algn="l">
              <a:lnSpc>
                <a:spcPct val="117000"/>
              </a:lnSpc>
              <a:buNone/>
            </a:pPr>
            <a:r>
              <a:rPr lang="en-US" sz="1200" kern="100" spc="48" dirty="0">
                <a:solidFill>
                  <a:srgbClr val="E3A33B"/>
                </a:solidFill>
                <a:latin typeface="Martel SemiBold" panose="00000700000000000000" pitchFamily="34" charset="0"/>
                <a:ea typeface="Martel SemiBold" panose="00000700000000000000" pitchFamily="34" charset="-122"/>
                <a:cs typeface="Martel SemiBold" panose="00000700000000000000" pitchFamily="34" charset="-120"/>
              </a:rPr>
              <a:t>03 / 07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438339" cy="6858000"/>
          </a:xfrm>
          <a:prstGeom prst="rect">
            <a:avLst/>
          </a:prstGeom>
          <a:solidFill>
            <a:srgbClr val="1B2659"/>
          </a:solidFill>
        </p:spPr>
      </p:sp>
      <p:sp>
        <p:nvSpPr>
          <p:cNvPr id="3" name="Shape 1"/>
          <p:cNvSpPr/>
          <p:nvPr/>
        </p:nvSpPr>
        <p:spPr>
          <a:xfrm>
            <a:off x="279294" y="330200"/>
            <a:ext cx="660284" cy="660301"/>
          </a:xfrm>
          <a:prstGeom prst="ellipse">
            <a:avLst/>
          </a:prstGeom>
          <a:noFill/>
          <a:ln w="19050">
            <a:solidFill>
              <a:srgbClr val="E3A33B"/>
            </a:solidFill>
            <a:prstDash val="solid"/>
          </a:ln>
        </p:spPr>
      </p:sp>
      <p:sp>
        <p:nvSpPr>
          <p:cNvPr id="4" name="Text 2"/>
          <p:cNvSpPr/>
          <p:nvPr/>
        </p:nvSpPr>
        <p:spPr>
          <a:xfrm>
            <a:off x="279393" y="1246886"/>
            <a:ext cx="2158946" cy="182860"/>
          </a:xfrm>
          <a:prstGeom prst="rect">
            <a:avLst/>
          </a:prstGeom>
          <a:noFill/>
        </p:spPr>
        <p:txBody>
          <a:bodyPr wrap="none" lIns="0" tIns="0" rIns="0" bIns="0" rtlCol="0" anchor="t"/>
          <a:lstStyle/>
          <a:p>
            <a:pPr marL="0" indent="0" algn="l">
              <a:lnSpc>
                <a:spcPct val="100000"/>
              </a:lnSpc>
              <a:buNone/>
            </a:pPr>
            <a:r>
              <a:rPr lang="en-US" sz="1200" kern="100" spc="168" dirty="0">
                <a:solidFill>
                  <a:srgbClr val="E3A33B"/>
                </a:solidFill>
                <a:latin typeface="Kumbh Sans SemiBold" pitchFamily="34" charset="0"/>
                <a:ea typeface="Kumbh Sans SemiBold" pitchFamily="34" charset="-122"/>
                <a:cs typeface="Kumbh Sans SemiBold" pitchFamily="34" charset="-120"/>
              </a:rPr>
              <a:t>PROJECT 03</a:t>
            </a:r>
            <a:endParaRPr lang="en-US" sz="1200" dirty="0"/>
          </a:p>
        </p:txBody>
      </p:sp>
      <p:sp>
        <p:nvSpPr>
          <p:cNvPr id="5" name="Text 3"/>
          <p:cNvSpPr/>
          <p:nvPr/>
        </p:nvSpPr>
        <p:spPr>
          <a:xfrm>
            <a:off x="279393" y="1521123"/>
            <a:ext cx="2158946" cy="266700"/>
          </a:xfrm>
          <a:prstGeom prst="rect">
            <a:avLst/>
          </a:prstGeom>
          <a:noFill/>
        </p:spPr>
        <p:txBody>
          <a:bodyPr wrap="none" lIns="0" tIns="0" rIns="0" bIns="0" rtlCol="0" anchor="t"/>
          <a:lstStyle/>
          <a:p>
            <a:pPr marL="0" indent="0" algn="l">
              <a:lnSpc>
                <a:spcPct val="117000"/>
              </a:lnSpc>
              <a:buNone/>
            </a:pPr>
            <a:r>
              <a:rPr lang="en-US" sz="1500" dirty="0">
                <a:solidFill>
                  <a:srgbClr val="FFFFFF"/>
                </a:solidFill>
                <a:latin typeface="Kumbh Sans" pitchFamily="34" charset="0"/>
                <a:ea typeface="Kumbh Sans" pitchFamily="34" charset="-122"/>
                <a:cs typeface="Kumbh Sans" pitchFamily="34" charset="-120"/>
              </a:rPr>
              <a:t>Smart Home Security</a:t>
            </a:r>
            <a:endParaRPr lang="en-US" sz="1500" dirty="0"/>
          </a:p>
        </p:txBody>
      </p:sp>
      <p:sp>
        <p:nvSpPr>
          <p:cNvPr id="6" name="Shape 4"/>
          <p:cNvSpPr/>
          <p:nvPr/>
        </p:nvSpPr>
        <p:spPr>
          <a:xfrm>
            <a:off x="279393" y="1924348"/>
            <a:ext cx="482588" cy="31651"/>
          </a:xfrm>
          <a:prstGeom prst="roundRect">
            <a:avLst>
              <a:gd name="adj" fmla="val 49998"/>
            </a:avLst>
          </a:prstGeom>
          <a:solidFill>
            <a:srgbClr val="E3A33B"/>
          </a:solidFill>
        </p:spPr>
      </p:sp>
      <p:sp>
        <p:nvSpPr>
          <p:cNvPr id="7" name="Text 5"/>
          <p:cNvSpPr/>
          <p:nvPr/>
        </p:nvSpPr>
        <p:spPr>
          <a:xfrm>
            <a:off x="279393" y="2099671"/>
            <a:ext cx="2158946" cy="182860"/>
          </a:xfrm>
          <a:prstGeom prst="rect">
            <a:avLst/>
          </a:prstGeom>
          <a:noFill/>
        </p:spPr>
        <p:txBody>
          <a:bodyPr wrap="none" lIns="0" tIns="0" rIns="0" bIns="0" rtlCol="0" anchor="t"/>
          <a:lstStyle/>
          <a:p>
            <a:pPr marL="0" indent="0" algn="l">
              <a:lnSpc>
                <a:spcPct val="100000"/>
              </a:lnSpc>
              <a:buNone/>
            </a:pPr>
            <a:r>
              <a:rPr lang="en-US" sz="1200" kern="100" spc="168" dirty="0">
                <a:solidFill>
                  <a:srgbClr val="FFFFFF"/>
                </a:solidFill>
                <a:latin typeface="Kumbh Sans SemiBold" pitchFamily="34" charset="0"/>
                <a:ea typeface="Kumbh Sans SemiBold" pitchFamily="34" charset="-122"/>
                <a:cs typeface="Kumbh Sans SemiBold" pitchFamily="34" charset="-120"/>
              </a:rPr>
              <a:t>IMPLEMENTATION</a:t>
            </a:r>
            <a:endParaRPr lang="en-US" sz="1200" dirty="0"/>
          </a:p>
        </p:txBody>
      </p:sp>
      <p:sp>
        <p:nvSpPr>
          <p:cNvPr id="8" name="Text 6"/>
          <p:cNvSpPr/>
          <p:nvPr/>
        </p:nvSpPr>
        <p:spPr>
          <a:xfrm>
            <a:off x="279393" y="5561806"/>
            <a:ext cx="1930352" cy="412750"/>
          </a:xfrm>
          <a:prstGeom prst="rect">
            <a:avLst/>
          </a:prstGeom>
          <a:noFill/>
        </p:spPr>
        <p:txBody>
          <a:bodyPr wrap="square" lIns="0" tIns="0" rIns="0" bIns="0" rtlCol="0" anchor="t">
            <a:normAutofit/>
          </a:bodyPr>
          <a:lstStyle/>
          <a:p>
            <a:pPr marL="0" indent="0" algn="l">
              <a:lnSpc>
                <a:spcPct val="108000"/>
              </a:lnSpc>
              <a:buNone/>
            </a:pPr>
            <a:r>
              <a:rPr lang="en-US" sz="1250" kern="100" spc="12" dirty="0">
                <a:solidFill>
                  <a:srgbClr val="FFFFFF"/>
                </a:solidFill>
                <a:latin typeface="Kumbh Sans" pitchFamily="34" charset="0"/>
                <a:ea typeface="Kumbh Sans" pitchFamily="34" charset="-122"/>
                <a:cs typeface="Kumbh Sans" pitchFamily="34" charset="-120"/>
              </a:rPr>
              <a:t>Logisim · Circuit construction</a:t>
            </a:r>
            <a:endParaRPr lang="en-US" sz="1250" dirty="0"/>
          </a:p>
        </p:txBody>
      </p:sp>
      <p:sp>
        <p:nvSpPr>
          <p:cNvPr id="9" name="Text 7"/>
          <p:cNvSpPr/>
          <p:nvPr/>
        </p:nvSpPr>
        <p:spPr>
          <a:xfrm>
            <a:off x="2946326" y="438467"/>
            <a:ext cx="8686583" cy="822920"/>
          </a:xfrm>
          <a:prstGeom prst="rect">
            <a:avLst/>
          </a:prstGeom>
          <a:noFill/>
        </p:spPr>
        <p:txBody>
          <a:bodyPr wrap="square" lIns="0" tIns="0" rIns="0" bIns="0" rtlCol="0" anchor="t">
            <a:normAutofit/>
          </a:bodyPr>
          <a:lstStyle/>
          <a:p>
            <a:pPr marL="0" indent="0" algn="l">
              <a:lnSpc>
                <a:spcPct val="90000"/>
              </a:lnSpc>
              <a:buNone/>
            </a:pPr>
            <a:r>
              <a:rPr lang="en-US" sz="3000" kern="100" spc="-30" dirty="0">
                <a:solidFill>
                  <a:srgbClr val="1B2659"/>
                </a:solidFill>
                <a:latin typeface="Martel ExtraBold" panose="00000900000000000000" pitchFamily="34" charset="0"/>
                <a:ea typeface="Martel ExtraBold" panose="00000900000000000000" pitchFamily="34" charset="-122"/>
                <a:cs typeface="Martel ExtraBold" panose="00000900000000000000" pitchFamily="34" charset="-120"/>
              </a:rPr>
              <a:t>Logisim turns the Boolean equation into a working circuit</a:t>
            </a:r>
            <a:endParaRPr lang="en-US" sz="3000" dirty="0"/>
          </a:p>
        </p:txBody>
      </p:sp>
      <p:sp>
        <p:nvSpPr>
          <p:cNvPr id="10" name="Shape 8"/>
          <p:cNvSpPr/>
          <p:nvPr/>
        </p:nvSpPr>
        <p:spPr>
          <a:xfrm>
            <a:off x="2946326" y="1523008"/>
            <a:ext cx="8686583" cy="31651"/>
          </a:xfrm>
          <a:prstGeom prst="roundRect">
            <a:avLst>
              <a:gd name="adj" fmla="val 49998"/>
            </a:avLst>
          </a:prstGeom>
          <a:solidFill>
            <a:srgbClr val="E3A33B"/>
          </a:solidFill>
        </p:spPr>
      </p:sp>
      <p:sp>
        <p:nvSpPr>
          <p:cNvPr id="11" name="Shape 9"/>
          <p:cNvSpPr/>
          <p:nvPr/>
        </p:nvSpPr>
        <p:spPr>
          <a:xfrm>
            <a:off x="2946326" y="2462510"/>
            <a:ext cx="431789" cy="431800"/>
          </a:xfrm>
          <a:prstGeom prst="ellipse">
            <a:avLst/>
          </a:prstGeom>
          <a:noFill/>
          <a:ln w="19050">
            <a:solidFill>
              <a:srgbClr val="8A4E0E"/>
            </a:solidFill>
            <a:prstDash val="solid"/>
          </a:ln>
        </p:spPr>
      </p:sp>
      <p:sp>
        <p:nvSpPr>
          <p:cNvPr id="12" name="Text 10"/>
          <p:cNvSpPr/>
          <p:nvPr/>
        </p:nvSpPr>
        <p:spPr>
          <a:xfrm>
            <a:off x="3115887" y="2576810"/>
            <a:ext cx="702253" cy="203200"/>
          </a:xfrm>
          <a:prstGeom prst="rect">
            <a:avLst/>
          </a:prstGeom>
          <a:noFill/>
        </p:spPr>
        <p:txBody>
          <a:bodyPr wrap="none" lIns="0" tIns="0" rIns="0" bIns="0" rtlCol="0" anchor="t"/>
          <a:lstStyle/>
          <a:p>
            <a:pPr marL="0" indent="0" algn="l">
              <a:lnSpc>
                <a:spcPct val="83000"/>
              </a:lnSpc>
              <a:buNone/>
            </a:pPr>
            <a:r>
              <a:rPr lang="en-US" sz="1600" dirty="0">
                <a:solidFill>
                  <a:srgbClr val="1B2659"/>
                </a:solidFill>
                <a:latin typeface="Martel SemiBold" panose="00000700000000000000" pitchFamily="34" charset="0"/>
                <a:ea typeface="Martel SemiBold" panose="00000700000000000000" pitchFamily="34" charset="-122"/>
                <a:cs typeface="Martel SemiBold" panose="00000700000000000000" pitchFamily="34" charset="-120"/>
              </a:rPr>
              <a:t>1</a:t>
            </a:r>
            <a:endParaRPr lang="en-US" sz="1600" dirty="0"/>
          </a:p>
        </p:txBody>
      </p:sp>
      <p:sp>
        <p:nvSpPr>
          <p:cNvPr id="13" name="Text 11"/>
          <p:cNvSpPr/>
          <p:nvPr/>
        </p:nvSpPr>
        <p:spPr>
          <a:xfrm>
            <a:off x="3530512" y="2537123"/>
            <a:ext cx="3327317" cy="533400"/>
          </a:xfrm>
          <a:prstGeom prst="rect">
            <a:avLst/>
          </a:prstGeom>
          <a:noFill/>
        </p:spPr>
        <p:txBody>
          <a:bodyPr wrap="square" lIns="0" tIns="0" rIns="0" bIns="0" rtlCol="0" anchor="t">
            <a:normAutofit/>
          </a:bodyPr>
          <a:lstStyle/>
          <a:p>
            <a:pPr marL="0" indent="0" algn="l">
              <a:lnSpc>
                <a:spcPct val="117000"/>
              </a:lnSpc>
              <a:buNone/>
            </a:pPr>
            <a:r>
              <a:rPr lang="en-US" sz="1500" dirty="0">
                <a:solidFill>
                  <a:srgbClr val="22262E"/>
                </a:solidFill>
                <a:latin typeface="Kumbh Sans" pitchFamily="34" charset="0"/>
                <a:ea typeface="Kumbh Sans" pitchFamily="34" charset="-122"/>
                <a:cs typeface="Kumbh Sans" pitchFamily="34" charset="-120"/>
              </a:rPr>
              <a:t>Place input pins </a:t>
            </a:r>
            <a:r>
              <a:rPr lang="en-US" sz="1500" b="1" dirty="0">
                <a:solidFill>
                  <a:srgbClr val="22262E"/>
                </a:solidFill>
                <a:latin typeface="Kumbh Sans Bold" pitchFamily="34" charset="0"/>
                <a:ea typeface="Kumbh Sans Bold" pitchFamily="34" charset="-122"/>
                <a:cs typeface="Kumbh Sans Bold" pitchFamily="34" charset="-120"/>
              </a:rPr>
              <a:t>D</a:t>
            </a:r>
            <a:r>
              <a:rPr lang="en-US" sz="1500" dirty="0">
                <a:solidFill>
                  <a:srgbClr val="22262E"/>
                </a:solidFill>
                <a:latin typeface="Kumbh Sans" pitchFamily="34" charset="0"/>
                <a:ea typeface="Kumbh Sans" pitchFamily="34" charset="-122"/>
                <a:cs typeface="Kumbh Sans" pitchFamily="34" charset="-120"/>
              </a:rPr>
              <a:t>, </a:t>
            </a:r>
            <a:r>
              <a:rPr lang="en-US" sz="1500" b="1" dirty="0">
                <a:solidFill>
                  <a:srgbClr val="22262E"/>
                </a:solidFill>
                <a:latin typeface="Kumbh Sans Bold" pitchFamily="34" charset="0"/>
                <a:ea typeface="Kumbh Sans Bold" pitchFamily="34" charset="-122"/>
                <a:cs typeface="Kumbh Sans Bold" pitchFamily="34" charset="-120"/>
              </a:rPr>
              <a:t>W</a:t>
            </a:r>
            <a:r>
              <a:rPr lang="en-US" sz="1500" dirty="0">
                <a:solidFill>
                  <a:srgbClr val="22262E"/>
                </a:solidFill>
                <a:latin typeface="Kumbh Sans" pitchFamily="34" charset="0"/>
                <a:ea typeface="Kumbh Sans" pitchFamily="34" charset="-122"/>
                <a:cs typeface="Kumbh Sans" pitchFamily="34" charset="-120"/>
              </a:rPr>
              <a:t>, and </a:t>
            </a:r>
            <a:r>
              <a:rPr lang="en-US" sz="1500" b="1" dirty="0">
                <a:solidFill>
                  <a:srgbClr val="22262E"/>
                </a:solidFill>
                <a:latin typeface="Kumbh Sans Bold" pitchFamily="34" charset="0"/>
                <a:ea typeface="Kumbh Sans Bold" pitchFamily="34" charset="-122"/>
                <a:cs typeface="Kumbh Sans Bold" pitchFamily="34" charset="-120"/>
              </a:rPr>
              <a:t>M</a:t>
            </a:r>
            <a:r>
              <a:rPr lang="en-US" sz="1500" dirty="0">
                <a:solidFill>
                  <a:srgbClr val="22262E"/>
                </a:solidFill>
                <a:latin typeface="Kumbh Sans" pitchFamily="34" charset="0"/>
                <a:ea typeface="Kumbh Sans" pitchFamily="34" charset="-122"/>
                <a:cs typeface="Kumbh Sans" pitchFamily="34" charset="-120"/>
              </a:rPr>
              <a:t>; connect them to a 3-input OR gate.</a:t>
            </a:r>
            <a:endParaRPr lang="en-US" sz="1500" dirty="0"/>
          </a:p>
        </p:txBody>
      </p:sp>
      <p:sp>
        <p:nvSpPr>
          <p:cNvPr id="14" name="Shape 12"/>
          <p:cNvSpPr/>
          <p:nvPr/>
        </p:nvSpPr>
        <p:spPr>
          <a:xfrm>
            <a:off x="2946326" y="3243560"/>
            <a:ext cx="431789" cy="431800"/>
          </a:xfrm>
          <a:prstGeom prst="ellipse">
            <a:avLst/>
          </a:prstGeom>
          <a:noFill/>
          <a:ln w="19050">
            <a:solidFill>
              <a:srgbClr val="8A4E0E"/>
            </a:solidFill>
            <a:prstDash val="solid"/>
          </a:ln>
        </p:spPr>
      </p:sp>
      <p:sp>
        <p:nvSpPr>
          <p:cNvPr id="15" name="Text 13"/>
          <p:cNvSpPr/>
          <p:nvPr/>
        </p:nvSpPr>
        <p:spPr>
          <a:xfrm>
            <a:off x="3101600" y="3357860"/>
            <a:ext cx="730728" cy="203200"/>
          </a:xfrm>
          <a:prstGeom prst="rect">
            <a:avLst/>
          </a:prstGeom>
          <a:noFill/>
        </p:spPr>
        <p:txBody>
          <a:bodyPr wrap="none" lIns="0" tIns="0" rIns="0" bIns="0" rtlCol="0" anchor="t"/>
          <a:lstStyle/>
          <a:p>
            <a:pPr marL="0" indent="0" algn="l">
              <a:lnSpc>
                <a:spcPct val="83000"/>
              </a:lnSpc>
              <a:buNone/>
            </a:pPr>
            <a:r>
              <a:rPr lang="en-US" sz="1600" dirty="0">
                <a:solidFill>
                  <a:srgbClr val="1B2659"/>
                </a:solidFill>
                <a:latin typeface="Martel SemiBold" panose="00000700000000000000" pitchFamily="34" charset="0"/>
                <a:ea typeface="Martel SemiBold" panose="00000700000000000000" pitchFamily="34" charset="-122"/>
                <a:cs typeface="Martel SemiBold" panose="00000700000000000000" pitchFamily="34" charset="-120"/>
              </a:rPr>
              <a:t>2</a:t>
            </a:r>
            <a:endParaRPr lang="en-US" sz="1600" dirty="0"/>
          </a:p>
        </p:txBody>
      </p:sp>
      <p:sp>
        <p:nvSpPr>
          <p:cNvPr id="16" name="Text 14"/>
          <p:cNvSpPr/>
          <p:nvPr/>
        </p:nvSpPr>
        <p:spPr>
          <a:xfrm>
            <a:off x="3530512" y="3318173"/>
            <a:ext cx="3327317" cy="533400"/>
          </a:xfrm>
          <a:prstGeom prst="rect">
            <a:avLst/>
          </a:prstGeom>
          <a:noFill/>
        </p:spPr>
        <p:txBody>
          <a:bodyPr wrap="square" lIns="0" tIns="0" rIns="0" bIns="0" rtlCol="0" anchor="t">
            <a:normAutofit/>
          </a:bodyPr>
          <a:lstStyle/>
          <a:p>
            <a:pPr marL="0" indent="0" algn="l">
              <a:lnSpc>
                <a:spcPct val="117000"/>
              </a:lnSpc>
              <a:buNone/>
            </a:pPr>
            <a:r>
              <a:rPr lang="en-US" sz="1500" dirty="0">
                <a:solidFill>
                  <a:srgbClr val="22262E"/>
                </a:solidFill>
                <a:latin typeface="Kumbh Sans" pitchFamily="34" charset="0"/>
                <a:ea typeface="Kumbh Sans" pitchFamily="34" charset="-122"/>
                <a:cs typeface="Kumbh Sans" pitchFamily="34" charset="-120"/>
              </a:rPr>
              <a:t>Connect the OR output </a:t>
            </a:r>
            <a:r>
              <a:rPr lang="en-US" sz="1500" b="1" dirty="0">
                <a:solidFill>
                  <a:srgbClr val="22262E"/>
                </a:solidFill>
                <a:latin typeface="Kumbh Sans Bold" pitchFamily="34" charset="0"/>
                <a:ea typeface="Kumbh Sans Bold" pitchFamily="34" charset="-122"/>
                <a:cs typeface="Kumbh Sans Bold" pitchFamily="34" charset="-120"/>
              </a:rPr>
              <a:t>I</a:t>
            </a:r>
            <a:r>
              <a:rPr lang="en-US" sz="1500" dirty="0">
                <a:solidFill>
                  <a:srgbClr val="22262E"/>
                </a:solidFill>
                <a:latin typeface="Kumbh Sans" pitchFamily="34" charset="0"/>
                <a:ea typeface="Kumbh Sans" pitchFamily="34" charset="-122"/>
                <a:cs typeface="Kumbh Sans" pitchFamily="34" charset="-120"/>
              </a:rPr>
              <a:t> to one input of a 2-input AND gate.</a:t>
            </a:r>
            <a:endParaRPr lang="en-US" sz="1500" dirty="0"/>
          </a:p>
        </p:txBody>
      </p:sp>
      <p:sp>
        <p:nvSpPr>
          <p:cNvPr id="17" name="Shape 15"/>
          <p:cNvSpPr/>
          <p:nvPr/>
        </p:nvSpPr>
        <p:spPr>
          <a:xfrm>
            <a:off x="2946326" y="4024610"/>
            <a:ext cx="431789" cy="431800"/>
          </a:xfrm>
          <a:prstGeom prst="ellipse">
            <a:avLst/>
          </a:prstGeom>
          <a:noFill/>
          <a:ln w="19050">
            <a:solidFill>
              <a:srgbClr val="8A4E0E"/>
            </a:solidFill>
            <a:prstDash val="solid"/>
          </a:ln>
        </p:spPr>
      </p:sp>
      <p:sp>
        <p:nvSpPr>
          <p:cNvPr id="18" name="Text 16"/>
          <p:cNvSpPr/>
          <p:nvPr/>
        </p:nvSpPr>
        <p:spPr>
          <a:xfrm>
            <a:off x="3108942" y="4138910"/>
            <a:ext cx="716143" cy="203200"/>
          </a:xfrm>
          <a:prstGeom prst="rect">
            <a:avLst/>
          </a:prstGeom>
          <a:noFill/>
        </p:spPr>
        <p:txBody>
          <a:bodyPr wrap="none" lIns="0" tIns="0" rIns="0" bIns="0" rtlCol="0" anchor="t"/>
          <a:lstStyle/>
          <a:p>
            <a:pPr marL="0" indent="0" algn="l">
              <a:lnSpc>
                <a:spcPct val="83000"/>
              </a:lnSpc>
              <a:buNone/>
            </a:pPr>
            <a:r>
              <a:rPr lang="en-US" sz="1600" dirty="0">
                <a:solidFill>
                  <a:srgbClr val="1B2659"/>
                </a:solidFill>
                <a:latin typeface="Martel SemiBold" panose="00000700000000000000" pitchFamily="34" charset="0"/>
                <a:ea typeface="Martel SemiBold" panose="00000700000000000000" pitchFamily="34" charset="-122"/>
                <a:cs typeface="Martel SemiBold" panose="00000700000000000000" pitchFamily="34" charset="-120"/>
              </a:rPr>
              <a:t>3</a:t>
            </a:r>
            <a:endParaRPr lang="en-US" sz="1600" dirty="0"/>
          </a:p>
        </p:txBody>
      </p:sp>
      <p:sp>
        <p:nvSpPr>
          <p:cNvPr id="19" name="Text 17"/>
          <p:cNvSpPr/>
          <p:nvPr/>
        </p:nvSpPr>
        <p:spPr>
          <a:xfrm>
            <a:off x="3530512" y="4099223"/>
            <a:ext cx="3327317" cy="533400"/>
          </a:xfrm>
          <a:prstGeom prst="rect">
            <a:avLst/>
          </a:prstGeom>
          <a:noFill/>
        </p:spPr>
        <p:txBody>
          <a:bodyPr wrap="square" lIns="0" tIns="0" rIns="0" bIns="0" rtlCol="0" anchor="t">
            <a:normAutofit/>
          </a:bodyPr>
          <a:lstStyle/>
          <a:p>
            <a:pPr marL="0" indent="0" algn="l">
              <a:lnSpc>
                <a:spcPct val="117000"/>
              </a:lnSpc>
              <a:buNone/>
            </a:pPr>
            <a:r>
              <a:rPr lang="en-US" sz="1500" dirty="0">
                <a:solidFill>
                  <a:srgbClr val="22262E"/>
                </a:solidFill>
                <a:latin typeface="Kumbh Sans" pitchFamily="34" charset="0"/>
                <a:ea typeface="Kumbh Sans" pitchFamily="34" charset="-122"/>
                <a:cs typeface="Kumbh Sans" pitchFamily="34" charset="-120"/>
              </a:rPr>
              <a:t>Connect arm input </a:t>
            </a:r>
            <a:r>
              <a:rPr lang="en-US" sz="1500" b="1" dirty="0">
                <a:solidFill>
                  <a:srgbClr val="22262E"/>
                </a:solidFill>
                <a:latin typeface="Kumbh Sans Bold" pitchFamily="34" charset="0"/>
                <a:ea typeface="Kumbh Sans Bold" pitchFamily="34" charset="-122"/>
                <a:cs typeface="Kumbh Sans Bold" pitchFamily="34" charset="-120"/>
              </a:rPr>
              <a:t>S</a:t>
            </a:r>
            <a:r>
              <a:rPr lang="en-US" sz="1500" dirty="0">
                <a:solidFill>
                  <a:srgbClr val="22262E"/>
                </a:solidFill>
                <a:latin typeface="Kumbh Sans" pitchFamily="34" charset="0"/>
                <a:ea typeface="Kumbh Sans" pitchFamily="34" charset="-122"/>
                <a:cs typeface="Kumbh Sans" pitchFamily="34" charset="-120"/>
              </a:rPr>
              <a:t> to the second AND input.</a:t>
            </a:r>
            <a:endParaRPr lang="en-US" sz="1500" dirty="0"/>
          </a:p>
        </p:txBody>
      </p:sp>
      <p:sp>
        <p:nvSpPr>
          <p:cNvPr id="20" name="Shape 18"/>
          <p:cNvSpPr/>
          <p:nvPr/>
        </p:nvSpPr>
        <p:spPr>
          <a:xfrm>
            <a:off x="2946326" y="4805660"/>
            <a:ext cx="431789" cy="431800"/>
          </a:xfrm>
          <a:prstGeom prst="ellipse">
            <a:avLst/>
          </a:prstGeom>
          <a:noFill/>
          <a:ln w="19050">
            <a:solidFill>
              <a:srgbClr val="8A4E0E"/>
            </a:solidFill>
            <a:prstDash val="solid"/>
          </a:ln>
        </p:spPr>
      </p:sp>
      <p:sp>
        <p:nvSpPr>
          <p:cNvPr id="21" name="Text 19"/>
          <p:cNvSpPr/>
          <p:nvPr/>
        </p:nvSpPr>
        <p:spPr>
          <a:xfrm>
            <a:off x="3100012" y="4919960"/>
            <a:ext cx="734002" cy="203200"/>
          </a:xfrm>
          <a:prstGeom prst="rect">
            <a:avLst/>
          </a:prstGeom>
          <a:noFill/>
        </p:spPr>
        <p:txBody>
          <a:bodyPr wrap="none" lIns="0" tIns="0" rIns="0" bIns="0" rtlCol="0" anchor="t"/>
          <a:lstStyle/>
          <a:p>
            <a:pPr marL="0" indent="0" algn="l">
              <a:lnSpc>
                <a:spcPct val="83000"/>
              </a:lnSpc>
              <a:buNone/>
            </a:pPr>
            <a:r>
              <a:rPr lang="en-US" sz="1600" dirty="0">
                <a:solidFill>
                  <a:srgbClr val="1B2659"/>
                </a:solidFill>
                <a:latin typeface="Martel SemiBold" panose="00000700000000000000" pitchFamily="34" charset="0"/>
                <a:ea typeface="Martel SemiBold" panose="00000700000000000000" pitchFamily="34" charset="-122"/>
                <a:cs typeface="Martel SemiBold" panose="00000700000000000000" pitchFamily="34" charset="-120"/>
              </a:rPr>
              <a:t>4</a:t>
            </a:r>
            <a:endParaRPr lang="en-US" sz="1600" dirty="0"/>
          </a:p>
        </p:txBody>
      </p:sp>
      <p:sp>
        <p:nvSpPr>
          <p:cNvPr id="22" name="Text 20"/>
          <p:cNvSpPr/>
          <p:nvPr/>
        </p:nvSpPr>
        <p:spPr>
          <a:xfrm>
            <a:off x="3530512" y="4880273"/>
            <a:ext cx="3327317" cy="533400"/>
          </a:xfrm>
          <a:prstGeom prst="rect">
            <a:avLst/>
          </a:prstGeom>
          <a:noFill/>
        </p:spPr>
        <p:txBody>
          <a:bodyPr wrap="square" lIns="0" tIns="0" rIns="0" bIns="0" rtlCol="0" anchor="t">
            <a:normAutofit/>
          </a:bodyPr>
          <a:lstStyle/>
          <a:p>
            <a:pPr marL="0" indent="0" algn="l">
              <a:lnSpc>
                <a:spcPct val="117000"/>
              </a:lnSpc>
              <a:buNone/>
            </a:pPr>
            <a:r>
              <a:rPr lang="en-US" sz="1500" dirty="0">
                <a:solidFill>
                  <a:srgbClr val="22262E"/>
                </a:solidFill>
                <a:latin typeface="Kumbh Sans" pitchFamily="34" charset="0"/>
                <a:ea typeface="Kumbh Sans" pitchFamily="34" charset="-122"/>
                <a:cs typeface="Kumbh Sans" pitchFamily="34" charset="-120"/>
              </a:rPr>
              <a:t>Connect output </a:t>
            </a:r>
            <a:r>
              <a:rPr lang="en-US" sz="1500" b="1" dirty="0">
                <a:solidFill>
                  <a:srgbClr val="22262E"/>
                </a:solidFill>
                <a:latin typeface="Kumbh Sans Bold" pitchFamily="34" charset="0"/>
                <a:ea typeface="Kumbh Sans Bold" pitchFamily="34" charset="-122"/>
                <a:cs typeface="Kumbh Sans Bold" pitchFamily="34" charset="-120"/>
              </a:rPr>
              <a:t>A</a:t>
            </a:r>
            <a:r>
              <a:rPr lang="en-US" sz="1500" dirty="0">
                <a:solidFill>
                  <a:srgbClr val="22262E"/>
                </a:solidFill>
                <a:latin typeface="Kumbh Sans" pitchFamily="34" charset="0"/>
                <a:ea typeface="Kumbh Sans" pitchFamily="34" charset="-122"/>
                <a:cs typeface="Kumbh Sans" pitchFamily="34" charset="-120"/>
              </a:rPr>
              <a:t> to an LED or output pin labeled </a:t>
            </a:r>
            <a:r>
              <a:rPr lang="en-US" sz="1500" b="1" dirty="0">
                <a:solidFill>
                  <a:srgbClr val="22262E"/>
                </a:solidFill>
                <a:latin typeface="Kumbh Sans Bold" pitchFamily="34" charset="0"/>
                <a:ea typeface="Kumbh Sans Bold" pitchFamily="34" charset="-122"/>
                <a:cs typeface="Kumbh Sans Bold" pitchFamily="34" charset="-120"/>
              </a:rPr>
              <a:t>ALARM</a:t>
            </a:r>
            <a:r>
              <a:rPr lang="en-US" sz="1500" dirty="0">
                <a:solidFill>
                  <a:srgbClr val="22262E"/>
                </a:solidFill>
                <a:latin typeface="Kumbh Sans" pitchFamily="34" charset="0"/>
                <a:ea typeface="Kumbh Sans" pitchFamily="34" charset="-122"/>
                <a:cs typeface="Kumbh Sans" pitchFamily="34" charset="-120"/>
              </a:rPr>
              <a:t>.</a:t>
            </a:r>
            <a:endParaRPr lang="en-US" sz="1500" dirty="0"/>
          </a:p>
        </p:txBody>
      </p:sp>
      <p:sp>
        <p:nvSpPr>
          <p:cNvPr id="23" name="Shape 21"/>
          <p:cNvSpPr/>
          <p:nvPr/>
        </p:nvSpPr>
        <p:spPr>
          <a:xfrm>
            <a:off x="2431989" y="0"/>
            <a:ext cx="12700" cy="6858000"/>
          </a:xfrm>
          <a:prstGeom prst="rect">
            <a:avLst/>
          </a:prstGeom>
          <a:solidFill>
            <a:srgbClr val="E3A33B"/>
          </a:solidFill>
        </p:spPr>
      </p:sp>
      <p:sp>
        <p:nvSpPr>
          <p:cNvPr id="24" name="Shape 22"/>
          <p:cNvSpPr/>
          <p:nvPr/>
        </p:nvSpPr>
        <p:spPr>
          <a:xfrm>
            <a:off x="2946326" y="3148310"/>
            <a:ext cx="3911502" cy="12700"/>
          </a:xfrm>
          <a:prstGeom prst="rect">
            <a:avLst/>
          </a:prstGeom>
          <a:solidFill>
            <a:srgbClr val="E3A33B"/>
          </a:solidFill>
        </p:spPr>
      </p:sp>
      <p:sp>
        <p:nvSpPr>
          <p:cNvPr id="25" name="Shape 23"/>
          <p:cNvSpPr/>
          <p:nvPr/>
        </p:nvSpPr>
        <p:spPr>
          <a:xfrm>
            <a:off x="2946326" y="3929360"/>
            <a:ext cx="3911502" cy="12700"/>
          </a:xfrm>
          <a:prstGeom prst="rect">
            <a:avLst/>
          </a:prstGeom>
          <a:solidFill>
            <a:srgbClr val="E3A33B"/>
          </a:solidFill>
        </p:spPr>
      </p:sp>
      <p:sp>
        <p:nvSpPr>
          <p:cNvPr id="26" name="Shape 24"/>
          <p:cNvSpPr/>
          <p:nvPr/>
        </p:nvSpPr>
        <p:spPr>
          <a:xfrm>
            <a:off x="2946326" y="4710410"/>
            <a:ext cx="3911502" cy="12700"/>
          </a:xfrm>
          <a:prstGeom prst="rect">
            <a:avLst/>
          </a:prstGeom>
          <a:solidFill>
            <a:srgbClr val="E3A33B"/>
          </a:solidFill>
        </p:spPr>
      </p:sp>
      <p:sp>
        <p:nvSpPr>
          <p:cNvPr id="27" name="Text 25"/>
          <p:cNvSpPr/>
          <p:nvPr/>
        </p:nvSpPr>
        <p:spPr>
          <a:xfrm>
            <a:off x="609585" y="6446540"/>
            <a:ext cx="1164005" cy="213320"/>
          </a:xfrm>
          <a:prstGeom prst="rect">
            <a:avLst/>
          </a:prstGeom>
          <a:noFill/>
        </p:spPr>
        <p:txBody>
          <a:bodyPr wrap="none" lIns="0" tIns="0" rIns="0" bIns="0" rtlCol="0" anchor="ctr"/>
          <a:lstStyle/>
          <a:p>
            <a:pPr marL="0" indent="0" algn="l">
              <a:lnSpc>
                <a:spcPct val="117000"/>
              </a:lnSpc>
              <a:buNone/>
            </a:pPr>
            <a:r>
              <a:rPr lang="en-US" sz="1200" kern="100" spc="48" dirty="0">
                <a:solidFill>
                  <a:srgbClr val="E3A33B"/>
                </a:solidFill>
                <a:latin typeface="Martel SemiBold" panose="00000700000000000000" pitchFamily="34" charset="0"/>
                <a:ea typeface="Martel SemiBold" panose="00000700000000000000" pitchFamily="34" charset="-122"/>
                <a:cs typeface="Martel SemiBold" panose="00000700000000000000" pitchFamily="34" charset="-120"/>
              </a:rPr>
              <a:t>04 / 07</a:t>
            </a:r>
            <a:endParaRPr lang="en-US" sz="1200" dirty="0"/>
          </a:p>
        </p:txBody>
      </p:sp>
      <p:sp>
        <p:nvSpPr>
          <p:cNvPr id="28" name="Shape 26"/>
          <p:cNvSpPr/>
          <p:nvPr/>
        </p:nvSpPr>
        <p:spPr>
          <a:xfrm>
            <a:off x="7162522" y="2778125"/>
            <a:ext cx="989781" cy="1341041"/>
          </a:xfrm>
          <a:prstGeom prst="roundRect">
            <a:avLst/>
          </a:prstGeom>
          <a:solidFill>
            <a:srgbClr val="F3EBDA"/>
          </a:solidFill>
          <a:ln w="12700">
            <a:solidFill>
              <a:srgbClr val="E3A33B"/>
            </a:solidFill>
            <a:prstDash val="solid"/>
          </a:ln>
        </p:spPr>
      </p:sp>
      <p:sp>
        <p:nvSpPr>
          <p:cNvPr id="29" name="Text 27"/>
          <p:cNvSpPr/>
          <p:nvPr/>
        </p:nvSpPr>
        <p:spPr>
          <a:xfrm>
            <a:off x="7162522" y="2987977"/>
            <a:ext cx="1455701" cy="182860"/>
          </a:xfrm>
          <a:prstGeom prst="rect">
            <a:avLst/>
          </a:prstGeom>
          <a:noFill/>
        </p:spPr>
        <p:txBody>
          <a:bodyPr wrap="none" lIns="0" tIns="0" rIns="0" bIns="0" rtlCol="0" anchor="t"/>
          <a:lstStyle/>
          <a:p>
            <a:pPr marL="0" indent="0" algn="ctr">
              <a:lnSpc>
                <a:spcPct val="100000"/>
              </a:lnSpc>
              <a:buNone/>
            </a:pPr>
            <a:r>
              <a:rPr lang="en-US" sz="1200" kern="100" spc="168" dirty="0">
                <a:solidFill>
                  <a:srgbClr val="8A4E0E"/>
                </a:solidFill>
                <a:latin typeface="Kumbh Sans SemiBold" pitchFamily="34" charset="0"/>
                <a:ea typeface="Kumbh Sans SemiBold" pitchFamily="34" charset="-122"/>
                <a:cs typeface="Kumbh Sans SemiBold" pitchFamily="34" charset="-120"/>
              </a:rPr>
              <a:t>INPUTS</a:t>
            </a:r>
            <a:endParaRPr lang="en-US" sz="1200" dirty="0"/>
          </a:p>
        </p:txBody>
      </p:sp>
      <p:sp>
        <p:nvSpPr>
          <p:cNvPr id="30" name="Text 28"/>
          <p:cNvSpPr/>
          <p:nvPr/>
        </p:nvSpPr>
        <p:spPr>
          <a:xfrm>
            <a:off x="7162522" y="3351113"/>
            <a:ext cx="1455701" cy="266700"/>
          </a:xfrm>
          <a:prstGeom prst="rect">
            <a:avLst/>
          </a:prstGeom>
          <a:noFill/>
        </p:spPr>
        <p:txBody>
          <a:bodyPr wrap="none" lIns="0" tIns="0" rIns="0" bIns="0" rtlCol="0" anchor="t"/>
          <a:lstStyle/>
          <a:p>
            <a:pPr marL="0" indent="0" algn="ctr">
              <a:lnSpc>
                <a:spcPct val="117000"/>
              </a:lnSpc>
              <a:buNone/>
            </a:pPr>
            <a:r>
              <a:rPr lang="en-US" sz="1500" b="1" dirty="0">
                <a:solidFill>
                  <a:srgbClr val="22262E"/>
                </a:solidFill>
                <a:latin typeface="Kumbh Sans Bold" pitchFamily="34" charset="0"/>
                <a:ea typeface="Kumbh Sans Bold" pitchFamily="34" charset="-122"/>
                <a:cs typeface="Kumbh Sans Bold" pitchFamily="34" charset="-120"/>
              </a:rPr>
              <a:t>D</a:t>
            </a:r>
            <a:r>
              <a:rPr lang="en-US" sz="1500" dirty="0">
                <a:solidFill>
                  <a:srgbClr val="22262E"/>
                </a:solidFill>
                <a:latin typeface="Kumbh Sans" pitchFamily="34" charset="0"/>
                <a:ea typeface="Kumbh Sans" pitchFamily="34" charset="-122"/>
                <a:cs typeface="Kumbh Sans" pitchFamily="34" charset="-120"/>
              </a:rPr>
              <a:t> · </a:t>
            </a:r>
            <a:r>
              <a:rPr lang="en-US" sz="1500" b="1" dirty="0">
                <a:solidFill>
                  <a:srgbClr val="22262E"/>
                </a:solidFill>
                <a:latin typeface="Kumbh Sans Bold" pitchFamily="34" charset="0"/>
                <a:ea typeface="Kumbh Sans Bold" pitchFamily="34" charset="-122"/>
                <a:cs typeface="Kumbh Sans Bold" pitchFamily="34" charset="-120"/>
              </a:rPr>
              <a:t>W</a:t>
            </a:r>
            <a:r>
              <a:rPr lang="en-US" sz="1500" dirty="0">
                <a:solidFill>
                  <a:srgbClr val="22262E"/>
                </a:solidFill>
                <a:latin typeface="Kumbh Sans" pitchFamily="34" charset="0"/>
                <a:ea typeface="Kumbh Sans" pitchFamily="34" charset="-122"/>
                <a:cs typeface="Kumbh Sans" pitchFamily="34" charset="-120"/>
              </a:rPr>
              <a:t> · </a:t>
            </a:r>
            <a:r>
              <a:rPr lang="en-US" sz="1500" b="1" dirty="0">
                <a:solidFill>
                  <a:srgbClr val="22262E"/>
                </a:solidFill>
                <a:latin typeface="Kumbh Sans Bold" pitchFamily="34" charset="0"/>
                <a:ea typeface="Kumbh Sans Bold" pitchFamily="34" charset="-122"/>
                <a:cs typeface="Kumbh Sans Bold" pitchFamily="34" charset="-120"/>
              </a:rPr>
              <a:t>M</a:t>
            </a:r>
            <a:endParaRPr lang="en-US" sz="1500" dirty="0"/>
          </a:p>
        </p:txBody>
      </p:sp>
      <p:sp>
        <p:nvSpPr>
          <p:cNvPr id="31" name="Shape 29"/>
          <p:cNvSpPr/>
          <p:nvPr/>
        </p:nvSpPr>
        <p:spPr>
          <a:xfrm>
            <a:off x="8152303" y="3432671"/>
            <a:ext cx="319278" cy="31849"/>
          </a:xfrm>
          <a:prstGeom prst="line">
            <a:avLst/>
          </a:prstGeom>
          <a:solidFill>
            <a:srgbClr val="E3A33B"/>
          </a:solidFill>
          <a:ln w="25400">
            <a:solidFill>
              <a:srgbClr val="E3A33B"/>
            </a:solidFill>
            <a:prstDash val="solid"/>
          </a:ln>
        </p:spPr>
      </p:sp>
      <p:sp>
        <p:nvSpPr>
          <p:cNvPr id="32" name="Shape 30"/>
          <p:cNvSpPr/>
          <p:nvPr/>
        </p:nvSpPr>
        <p:spPr>
          <a:xfrm>
            <a:off x="8471581" y="2778125"/>
            <a:ext cx="878064" cy="1341041"/>
          </a:xfrm>
          <a:prstGeom prst="roundRect">
            <a:avLst/>
          </a:prstGeom>
          <a:solidFill>
            <a:srgbClr val="FCF7EC"/>
          </a:solidFill>
          <a:ln w="12700">
            <a:solidFill>
              <a:srgbClr val="E3A33B"/>
            </a:solidFill>
            <a:prstDash val="solid"/>
          </a:ln>
        </p:spPr>
      </p:sp>
      <p:sp>
        <p:nvSpPr>
          <p:cNvPr id="33" name="Text 31"/>
          <p:cNvSpPr/>
          <p:nvPr/>
        </p:nvSpPr>
        <p:spPr>
          <a:xfrm>
            <a:off x="8238621" y="3019925"/>
            <a:ext cx="1343984" cy="182860"/>
          </a:xfrm>
          <a:prstGeom prst="rect">
            <a:avLst/>
          </a:prstGeom>
          <a:noFill/>
        </p:spPr>
        <p:txBody>
          <a:bodyPr wrap="none" lIns="0" tIns="0" rIns="0" bIns="0" rtlCol="0" anchor="t"/>
          <a:lstStyle/>
          <a:p>
            <a:pPr marL="0" indent="0" algn="ctr">
              <a:lnSpc>
                <a:spcPct val="100000"/>
              </a:lnSpc>
              <a:buNone/>
            </a:pPr>
            <a:r>
              <a:rPr lang="en-US" sz="1200" kern="100" spc="168" dirty="0">
                <a:solidFill>
                  <a:srgbClr val="8A4E0E"/>
                </a:solidFill>
                <a:latin typeface="Kumbh Sans SemiBold" pitchFamily="34" charset="0"/>
                <a:ea typeface="Kumbh Sans SemiBold" pitchFamily="34" charset="-122"/>
                <a:cs typeface="Kumbh Sans SemiBold" pitchFamily="34" charset="-120"/>
              </a:rPr>
              <a:t>OR</a:t>
            </a:r>
            <a:endParaRPr lang="en-US" sz="1200" dirty="0"/>
          </a:p>
        </p:txBody>
      </p:sp>
      <p:sp>
        <p:nvSpPr>
          <p:cNvPr id="34" name="Text 32"/>
          <p:cNvSpPr/>
          <p:nvPr/>
        </p:nvSpPr>
        <p:spPr>
          <a:xfrm>
            <a:off x="8238621" y="3383062"/>
            <a:ext cx="1343984" cy="266700"/>
          </a:xfrm>
          <a:prstGeom prst="rect">
            <a:avLst/>
          </a:prstGeom>
          <a:noFill/>
        </p:spPr>
        <p:txBody>
          <a:bodyPr wrap="none" lIns="0" tIns="0" rIns="0" bIns="0" rtlCol="0" anchor="t"/>
          <a:lstStyle/>
          <a:p>
            <a:pPr marL="0" indent="0" algn="ctr">
              <a:lnSpc>
                <a:spcPct val="117000"/>
              </a:lnSpc>
              <a:buNone/>
            </a:pPr>
            <a:r>
              <a:rPr lang="en-US" sz="1500" b="1" dirty="0">
                <a:solidFill>
                  <a:srgbClr val="22262E"/>
                </a:solidFill>
                <a:latin typeface="Kumbh Sans Bold" pitchFamily="34" charset="0"/>
                <a:ea typeface="Kumbh Sans Bold" pitchFamily="34" charset="-122"/>
                <a:cs typeface="Kumbh Sans Bold" pitchFamily="34" charset="-120"/>
              </a:rPr>
              <a:t>I</a:t>
            </a:r>
            <a:endParaRPr lang="en-US" sz="1500" dirty="0"/>
          </a:p>
        </p:txBody>
      </p:sp>
      <p:sp>
        <p:nvSpPr>
          <p:cNvPr id="35" name="Shape 33"/>
          <p:cNvSpPr/>
          <p:nvPr/>
        </p:nvSpPr>
        <p:spPr>
          <a:xfrm>
            <a:off x="9349744" y="3432671"/>
            <a:ext cx="319278" cy="31849"/>
          </a:xfrm>
          <a:prstGeom prst="line">
            <a:avLst/>
          </a:prstGeom>
          <a:solidFill>
            <a:srgbClr val="E3A33B"/>
          </a:solidFill>
          <a:ln w="25400">
            <a:solidFill>
              <a:srgbClr val="E3A33B"/>
            </a:solidFill>
            <a:prstDash val="solid"/>
          </a:ln>
        </p:spPr>
      </p:sp>
      <p:sp>
        <p:nvSpPr>
          <p:cNvPr id="36" name="Shape 34"/>
          <p:cNvSpPr/>
          <p:nvPr/>
        </p:nvSpPr>
        <p:spPr>
          <a:xfrm>
            <a:off x="9669022" y="2778125"/>
            <a:ext cx="957834" cy="1341041"/>
          </a:xfrm>
          <a:prstGeom prst="roundRect">
            <a:avLst/>
          </a:prstGeom>
          <a:solidFill>
            <a:srgbClr val="F3EBDA"/>
          </a:solidFill>
          <a:ln w="12700">
            <a:solidFill>
              <a:srgbClr val="E3A33B"/>
            </a:solidFill>
            <a:prstDash val="solid"/>
          </a:ln>
        </p:spPr>
      </p:sp>
      <p:sp>
        <p:nvSpPr>
          <p:cNvPr id="37" name="Text 35"/>
          <p:cNvSpPr/>
          <p:nvPr/>
        </p:nvSpPr>
        <p:spPr>
          <a:xfrm>
            <a:off x="9436062" y="3019925"/>
            <a:ext cx="1423753" cy="182860"/>
          </a:xfrm>
          <a:prstGeom prst="rect">
            <a:avLst/>
          </a:prstGeom>
          <a:noFill/>
        </p:spPr>
        <p:txBody>
          <a:bodyPr wrap="none" lIns="0" tIns="0" rIns="0" bIns="0" rtlCol="0" anchor="t"/>
          <a:lstStyle/>
          <a:p>
            <a:pPr marL="0" indent="0" algn="ctr">
              <a:lnSpc>
                <a:spcPct val="100000"/>
              </a:lnSpc>
              <a:buNone/>
            </a:pPr>
            <a:r>
              <a:rPr lang="en-US" sz="1200" kern="100" spc="168" dirty="0">
                <a:solidFill>
                  <a:srgbClr val="8A4E0E"/>
                </a:solidFill>
                <a:latin typeface="Kumbh Sans SemiBold" pitchFamily="34" charset="0"/>
                <a:ea typeface="Kumbh Sans SemiBold" pitchFamily="34" charset="-122"/>
                <a:cs typeface="Kumbh Sans SemiBold" pitchFamily="34" charset="-120"/>
              </a:rPr>
              <a:t>AND</a:t>
            </a:r>
            <a:endParaRPr lang="en-US" sz="1200" dirty="0"/>
          </a:p>
        </p:txBody>
      </p:sp>
      <p:sp>
        <p:nvSpPr>
          <p:cNvPr id="38" name="Text 36"/>
          <p:cNvSpPr/>
          <p:nvPr/>
        </p:nvSpPr>
        <p:spPr>
          <a:xfrm>
            <a:off x="9436062" y="3383062"/>
            <a:ext cx="1423753" cy="266700"/>
          </a:xfrm>
          <a:prstGeom prst="rect">
            <a:avLst/>
          </a:prstGeom>
          <a:noFill/>
        </p:spPr>
        <p:txBody>
          <a:bodyPr wrap="none" lIns="0" tIns="0" rIns="0" bIns="0" rtlCol="0" anchor="t"/>
          <a:lstStyle/>
          <a:p>
            <a:pPr marL="0" indent="0" algn="ctr">
              <a:lnSpc>
                <a:spcPct val="117000"/>
              </a:lnSpc>
              <a:buNone/>
            </a:pPr>
            <a:r>
              <a:rPr lang="en-US" sz="1500" b="1" dirty="0">
                <a:solidFill>
                  <a:srgbClr val="22262E"/>
                </a:solidFill>
                <a:latin typeface="Kumbh Sans Bold" pitchFamily="34" charset="0"/>
                <a:ea typeface="Kumbh Sans Bold" pitchFamily="34" charset="-122"/>
                <a:cs typeface="Kumbh Sans Bold" pitchFamily="34" charset="-120"/>
              </a:rPr>
              <a:t>I</a:t>
            </a:r>
            <a:r>
              <a:rPr lang="en-US" sz="1500" dirty="0">
                <a:solidFill>
                  <a:srgbClr val="22262E"/>
                </a:solidFill>
                <a:latin typeface="Kumbh Sans" pitchFamily="34" charset="0"/>
                <a:ea typeface="Kumbh Sans" pitchFamily="34" charset="-122"/>
                <a:cs typeface="Kumbh Sans" pitchFamily="34" charset="-120"/>
              </a:rPr>
              <a:t> · </a:t>
            </a:r>
            <a:r>
              <a:rPr lang="en-US" sz="1500" b="1" dirty="0">
                <a:solidFill>
                  <a:srgbClr val="22262E"/>
                </a:solidFill>
                <a:latin typeface="Kumbh Sans Bold" pitchFamily="34" charset="0"/>
                <a:ea typeface="Kumbh Sans Bold" pitchFamily="34" charset="-122"/>
                <a:cs typeface="Kumbh Sans Bold" pitchFamily="34" charset="-120"/>
              </a:rPr>
              <a:t>S</a:t>
            </a:r>
            <a:endParaRPr lang="en-US" sz="1500" dirty="0"/>
          </a:p>
        </p:txBody>
      </p:sp>
      <p:sp>
        <p:nvSpPr>
          <p:cNvPr id="39" name="Text 37"/>
          <p:cNvSpPr/>
          <p:nvPr/>
        </p:nvSpPr>
        <p:spPr>
          <a:xfrm>
            <a:off x="9356193" y="2304752"/>
            <a:ext cx="1583392" cy="206375"/>
          </a:xfrm>
          <a:prstGeom prst="rect">
            <a:avLst/>
          </a:prstGeom>
          <a:noFill/>
        </p:spPr>
        <p:txBody>
          <a:bodyPr wrap="none" lIns="0" tIns="0" rIns="0" bIns="0" rtlCol="0" anchor="t"/>
          <a:lstStyle/>
          <a:p>
            <a:pPr marL="0" indent="0" algn="ctr">
              <a:lnSpc>
                <a:spcPct val="108000"/>
              </a:lnSpc>
              <a:buNone/>
            </a:pPr>
            <a:r>
              <a:rPr lang="en-US" sz="1250" kern="100" spc="12" dirty="0">
                <a:solidFill>
                  <a:srgbClr val="5A5F6B"/>
                </a:solidFill>
                <a:latin typeface="Kumbh Sans" pitchFamily="34" charset="0"/>
                <a:ea typeface="Kumbh Sans" pitchFamily="34" charset="-122"/>
                <a:cs typeface="Kumbh Sans" pitchFamily="34" charset="-120"/>
              </a:rPr>
              <a:t>Arm </a:t>
            </a:r>
            <a:r>
              <a:rPr lang="en-US" sz="1250" b="1" kern="100" spc="12" dirty="0">
                <a:solidFill>
                  <a:srgbClr val="5A5F6B"/>
                </a:solidFill>
                <a:latin typeface="Kumbh Sans Bold" pitchFamily="34" charset="0"/>
                <a:ea typeface="Kumbh Sans Bold" pitchFamily="34" charset="-122"/>
                <a:cs typeface="Kumbh Sans Bold" pitchFamily="34" charset="-120"/>
              </a:rPr>
              <a:t>S</a:t>
            </a:r>
            <a:endParaRPr lang="en-US" sz="1250" dirty="0"/>
          </a:p>
        </p:txBody>
      </p:sp>
      <p:sp>
        <p:nvSpPr>
          <p:cNvPr id="40" name="Shape 38"/>
          <p:cNvSpPr/>
          <p:nvPr/>
        </p:nvSpPr>
        <p:spPr>
          <a:xfrm>
            <a:off x="10131965" y="2538611"/>
            <a:ext cx="31848" cy="319286"/>
          </a:xfrm>
          <a:prstGeom prst="line">
            <a:avLst/>
          </a:prstGeom>
          <a:solidFill>
            <a:srgbClr val="E3A33B"/>
          </a:solidFill>
          <a:ln w="19050">
            <a:solidFill>
              <a:srgbClr val="E3A33B"/>
            </a:solidFill>
            <a:prstDash val="solid"/>
          </a:ln>
        </p:spPr>
      </p:sp>
      <p:sp>
        <p:nvSpPr>
          <p:cNvPr id="41" name="Shape 39"/>
          <p:cNvSpPr/>
          <p:nvPr/>
        </p:nvSpPr>
        <p:spPr>
          <a:xfrm>
            <a:off x="10626955" y="3432671"/>
            <a:ext cx="430995" cy="31849"/>
          </a:xfrm>
          <a:prstGeom prst="line">
            <a:avLst/>
          </a:prstGeom>
          <a:solidFill>
            <a:srgbClr val="E3A33B"/>
          </a:solidFill>
          <a:ln w="25400">
            <a:solidFill>
              <a:srgbClr val="E3A33B"/>
            </a:solidFill>
            <a:prstDash val="solid"/>
          </a:ln>
        </p:spPr>
      </p:sp>
      <p:sp>
        <p:nvSpPr>
          <p:cNvPr id="42" name="Shape 40"/>
          <p:cNvSpPr/>
          <p:nvPr/>
        </p:nvSpPr>
        <p:spPr>
          <a:xfrm>
            <a:off x="11057951" y="3161308"/>
            <a:ext cx="574661" cy="574675"/>
          </a:xfrm>
          <a:prstGeom prst="ellipse">
            <a:avLst/>
          </a:prstGeom>
          <a:solidFill>
            <a:srgbClr val="1B2659"/>
          </a:solidFill>
          <a:ln w="12700">
            <a:solidFill>
              <a:srgbClr val="E3A33B"/>
            </a:solidFill>
            <a:prstDash val="solid"/>
          </a:ln>
        </p:spPr>
      </p:sp>
      <p:sp>
        <p:nvSpPr>
          <p:cNvPr id="43" name="Text 41"/>
          <p:cNvSpPr/>
          <p:nvPr/>
        </p:nvSpPr>
        <p:spPr>
          <a:xfrm>
            <a:off x="10837691" y="3320058"/>
            <a:ext cx="795119" cy="266700"/>
          </a:xfrm>
          <a:prstGeom prst="rect">
            <a:avLst/>
          </a:prstGeom>
          <a:noFill/>
        </p:spPr>
        <p:txBody>
          <a:bodyPr wrap="none" lIns="0" tIns="0" rIns="0" bIns="0" rtlCol="0" anchor="t"/>
          <a:lstStyle/>
          <a:p>
            <a:pPr marL="0" indent="0" algn="ctr">
              <a:lnSpc>
                <a:spcPct val="117000"/>
              </a:lnSpc>
              <a:buNone/>
            </a:pPr>
            <a:r>
              <a:rPr lang="en-US" sz="1500" b="1" dirty="0">
                <a:solidFill>
                  <a:srgbClr val="FFFFFF"/>
                </a:solidFill>
                <a:latin typeface="Kumbh Sans Bold" pitchFamily="34" charset="0"/>
                <a:ea typeface="Kumbh Sans Bold" pitchFamily="34" charset="-122"/>
                <a:cs typeface="Kumbh Sans Bold" pitchFamily="34" charset="-120"/>
              </a:rPr>
              <a:t>A</a:t>
            </a:r>
            <a:endParaRPr lang="en-US" sz="1500" dirty="0"/>
          </a:p>
        </p:txBody>
      </p:sp>
      <p:sp>
        <p:nvSpPr>
          <p:cNvPr id="44" name="Text 42"/>
          <p:cNvSpPr/>
          <p:nvPr/>
        </p:nvSpPr>
        <p:spPr>
          <a:xfrm>
            <a:off x="7162522" y="4619724"/>
            <a:ext cx="4470288" cy="206375"/>
          </a:xfrm>
          <a:prstGeom prst="rect">
            <a:avLst/>
          </a:prstGeom>
          <a:noFill/>
        </p:spPr>
        <p:txBody>
          <a:bodyPr wrap="none" lIns="0" tIns="0" rIns="0" bIns="0" rtlCol="0" anchor="t"/>
          <a:lstStyle/>
          <a:p>
            <a:pPr marL="0" indent="0" algn="ctr">
              <a:lnSpc>
                <a:spcPct val="108000"/>
              </a:lnSpc>
              <a:buNone/>
            </a:pPr>
            <a:r>
              <a:rPr lang="en-US" sz="1250" kern="100" spc="12" dirty="0">
                <a:solidFill>
                  <a:srgbClr val="5A5F6B"/>
                </a:solidFill>
                <a:latin typeface="Kumbh Sans" pitchFamily="34" charset="0"/>
                <a:ea typeface="Kumbh Sans" pitchFamily="34" charset="-122"/>
                <a:cs typeface="Kumbh Sans" pitchFamily="34" charset="-120"/>
              </a:rPr>
              <a:t>Toggle an input pin to represent a sensor state.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438339" cy="6858000"/>
          </a:xfrm>
          <a:prstGeom prst="rect">
            <a:avLst/>
          </a:prstGeom>
          <a:solidFill>
            <a:srgbClr val="1B2659"/>
          </a:solidFill>
        </p:spPr>
      </p:sp>
      <p:sp>
        <p:nvSpPr>
          <p:cNvPr id="3" name="Shape 1"/>
          <p:cNvSpPr/>
          <p:nvPr/>
        </p:nvSpPr>
        <p:spPr>
          <a:xfrm>
            <a:off x="279294" y="330200"/>
            <a:ext cx="660284" cy="660301"/>
          </a:xfrm>
          <a:prstGeom prst="ellipse">
            <a:avLst/>
          </a:prstGeom>
          <a:noFill/>
          <a:ln w="19050">
            <a:solidFill>
              <a:srgbClr val="E3A33B"/>
            </a:solidFill>
            <a:prstDash val="solid"/>
          </a:ln>
        </p:spPr>
      </p:sp>
      <p:sp>
        <p:nvSpPr>
          <p:cNvPr id="4" name="Text 2"/>
          <p:cNvSpPr/>
          <p:nvPr/>
        </p:nvSpPr>
        <p:spPr>
          <a:xfrm>
            <a:off x="228594" y="2765826"/>
            <a:ext cx="2209745" cy="182860"/>
          </a:xfrm>
          <a:prstGeom prst="rect">
            <a:avLst/>
          </a:prstGeom>
          <a:noFill/>
        </p:spPr>
        <p:txBody>
          <a:bodyPr wrap="none" lIns="0" tIns="0" rIns="0" bIns="0" rtlCol="0" anchor="t"/>
          <a:lstStyle/>
          <a:p>
            <a:pPr marL="0" indent="0" algn="l">
              <a:lnSpc>
                <a:spcPct val="100000"/>
              </a:lnSpc>
              <a:buNone/>
            </a:pPr>
            <a:r>
              <a:rPr lang="en-US" sz="1200" kern="100" spc="168" dirty="0">
                <a:solidFill>
                  <a:srgbClr val="E3A33B"/>
                </a:solidFill>
                <a:latin typeface="Kumbh Sans SemiBold" pitchFamily="34" charset="0"/>
                <a:ea typeface="Kumbh Sans SemiBold" pitchFamily="34" charset="-122"/>
                <a:cs typeface="Kumbh Sans SemiBold" pitchFamily="34" charset="-120"/>
              </a:rPr>
              <a:t>PROJECT 04</a:t>
            </a:r>
            <a:endParaRPr lang="en-US" sz="1200" dirty="0"/>
          </a:p>
        </p:txBody>
      </p:sp>
      <p:sp>
        <p:nvSpPr>
          <p:cNvPr id="5" name="Text 3"/>
          <p:cNvSpPr/>
          <p:nvPr/>
        </p:nvSpPr>
        <p:spPr>
          <a:xfrm>
            <a:off x="228594" y="3040063"/>
            <a:ext cx="2209745" cy="266700"/>
          </a:xfrm>
          <a:prstGeom prst="rect">
            <a:avLst/>
          </a:prstGeom>
          <a:noFill/>
        </p:spPr>
        <p:txBody>
          <a:bodyPr wrap="none" lIns="0" tIns="0" rIns="0" bIns="0" rtlCol="0" anchor="t"/>
          <a:lstStyle/>
          <a:p>
            <a:pPr marL="0" indent="0" algn="l">
              <a:lnSpc>
                <a:spcPct val="117000"/>
              </a:lnSpc>
              <a:buNone/>
            </a:pPr>
            <a:r>
              <a:rPr lang="en-US" sz="1500" dirty="0">
                <a:solidFill>
                  <a:srgbClr val="FFFFFF"/>
                </a:solidFill>
                <a:latin typeface="Kumbh Sans" pitchFamily="34" charset="0"/>
                <a:ea typeface="Kumbh Sans" pitchFamily="34" charset="-122"/>
                <a:cs typeface="Kumbh Sans" pitchFamily="34" charset="-120"/>
              </a:rPr>
              <a:t>Smart Home Security</a:t>
            </a:r>
            <a:endParaRPr lang="en-US" sz="1500" dirty="0"/>
          </a:p>
        </p:txBody>
      </p:sp>
      <p:sp>
        <p:nvSpPr>
          <p:cNvPr id="6" name="Shape 4"/>
          <p:cNvSpPr/>
          <p:nvPr/>
        </p:nvSpPr>
        <p:spPr>
          <a:xfrm>
            <a:off x="228594" y="3443288"/>
            <a:ext cx="495288" cy="31651"/>
          </a:xfrm>
          <a:prstGeom prst="roundRect">
            <a:avLst>
              <a:gd name="adj" fmla="val 49998"/>
            </a:avLst>
          </a:prstGeom>
          <a:solidFill>
            <a:srgbClr val="E3A33B"/>
          </a:solidFill>
        </p:spPr>
      </p:sp>
      <p:sp>
        <p:nvSpPr>
          <p:cNvPr id="7" name="Text 5"/>
          <p:cNvSpPr/>
          <p:nvPr/>
        </p:nvSpPr>
        <p:spPr>
          <a:xfrm>
            <a:off x="228594" y="3618611"/>
            <a:ext cx="2209745" cy="182860"/>
          </a:xfrm>
          <a:prstGeom prst="rect">
            <a:avLst/>
          </a:prstGeom>
          <a:noFill/>
        </p:spPr>
        <p:txBody>
          <a:bodyPr wrap="none" lIns="0" tIns="0" rIns="0" bIns="0" rtlCol="0" anchor="t"/>
          <a:lstStyle/>
          <a:p>
            <a:pPr marL="0" indent="0" algn="l">
              <a:lnSpc>
                <a:spcPct val="100000"/>
              </a:lnSpc>
              <a:buNone/>
            </a:pPr>
            <a:r>
              <a:rPr lang="en-US" sz="1200" kern="100" spc="168" dirty="0">
                <a:solidFill>
                  <a:srgbClr val="FFFFFF"/>
                </a:solidFill>
                <a:latin typeface="Kumbh Sans SemiBold" pitchFamily="34" charset="0"/>
                <a:ea typeface="Kumbh Sans SemiBold" pitchFamily="34" charset="-122"/>
                <a:cs typeface="Kumbh Sans SemiBold" pitchFamily="34" charset="-120"/>
              </a:rPr>
              <a:t>SIMULATION</a:t>
            </a:r>
            <a:endParaRPr lang="en-US" sz="1200" dirty="0"/>
          </a:p>
        </p:txBody>
      </p:sp>
      <p:sp>
        <p:nvSpPr>
          <p:cNvPr id="8" name="Text 6"/>
          <p:cNvSpPr/>
          <p:nvPr/>
        </p:nvSpPr>
        <p:spPr>
          <a:xfrm>
            <a:off x="228594" y="3893641"/>
            <a:ext cx="2209745" cy="206375"/>
          </a:xfrm>
          <a:prstGeom prst="rect">
            <a:avLst/>
          </a:prstGeom>
          <a:noFill/>
        </p:spPr>
        <p:txBody>
          <a:bodyPr wrap="none" lIns="0" tIns="0" rIns="0" bIns="0" rtlCol="0" anchor="t"/>
          <a:lstStyle/>
          <a:p>
            <a:pPr marL="0" indent="0" algn="l">
              <a:lnSpc>
                <a:spcPct val="108000"/>
              </a:lnSpc>
              <a:buNone/>
            </a:pPr>
            <a:r>
              <a:rPr lang="en-US" sz="1250" kern="100" spc="12" dirty="0">
                <a:solidFill>
                  <a:srgbClr val="FFFFFF"/>
                </a:solidFill>
                <a:latin typeface="Kumbh Sans" pitchFamily="34" charset="0"/>
                <a:ea typeface="Kumbh Sans" pitchFamily="34" charset="-122"/>
                <a:cs typeface="Kumbh Sans" pitchFamily="34" charset="-120"/>
              </a:rPr>
              <a:t>Truth table · Verification</a:t>
            </a:r>
            <a:endParaRPr lang="en-US" sz="1250" dirty="0"/>
          </a:p>
        </p:txBody>
      </p:sp>
      <p:sp>
        <p:nvSpPr>
          <p:cNvPr id="9" name="Text 7"/>
          <p:cNvSpPr/>
          <p:nvPr/>
        </p:nvSpPr>
        <p:spPr>
          <a:xfrm>
            <a:off x="2946326" y="311467"/>
            <a:ext cx="8686583" cy="822920"/>
          </a:xfrm>
          <a:prstGeom prst="rect">
            <a:avLst/>
          </a:prstGeom>
          <a:noFill/>
        </p:spPr>
        <p:txBody>
          <a:bodyPr wrap="square" lIns="0" tIns="0" rIns="0" bIns="0" rtlCol="0" anchor="t">
            <a:normAutofit/>
          </a:bodyPr>
          <a:lstStyle/>
          <a:p>
            <a:pPr marL="0" indent="0" algn="l">
              <a:lnSpc>
                <a:spcPct val="90000"/>
              </a:lnSpc>
              <a:buNone/>
            </a:pPr>
            <a:r>
              <a:rPr lang="en-US" sz="3000" kern="100" spc="-30" dirty="0">
                <a:solidFill>
                  <a:srgbClr val="1B2659"/>
                </a:solidFill>
                <a:latin typeface="Martel ExtraBold" panose="00000900000000000000" pitchFamily="34" charset="0"/>
                <a:ea typeface="Martel ExtraBold" panose="00000900000000000000" pitchFamily="34" charset="-122"/>
                <a:cs typeface="Martel ExtraBold" panose="00000900000000000000" pitchFamily="34" charset="-120"/>
              </a:rPr>
              <a:t>Simulation confirms the alarm responds only when armed</a:t>
            </a:r>
            <a:endParaRPr lang="en-US" sz="3000" dirty="0"/>
          </a:p>
        </p:txBody>
      </p:sp>
      <p:sp>
        <p:nvSpPr>
          <p:cNvPr id="10" name="Shape 8"/>
          <p:cNvSpPr/>
          <p:nvPr/>
        </p:nvSpPr>
        <p:spPr>
          <a:xfrm>
            <a:off x="2946326" y="1396008"/>
            <a:ext cx="8686583" cy="31651"/>
          </a:xfrm>
          <a:prstGeom prst="roundRect">
            <a:avLst>
              <a:gd name="adj" fmla="val 49998"/>
            </a:avLst>
          </a:prstGeom>
          <a:solidFill>
            <a:srgbClr val="E3A33B"/>
          </a:solidFill>
        </p:spPr>
      </p:sp>
      <p:graphicFrame>
        <p:nvGraphicFramePr>
          <p:cNvPr id="11" name="Table 0"/>
          <p:cNvGraphicFramePr>
            <a:graphicFrameLocks noGrp="1"/>
          </p:cNvGraphicFramePr>
          <p:nvPr/>
        </p:nvGraphicFramePr>
        <p:xfrm>
          <a:off x="2946326" y="1921272"/>
          <a:ext cx="4889380" cy="4050904"/>
        </p:xfrm>
        <a:graphic>
          <a:graphicData uri="http://schemas.openxmlformats.org/drawingml/2006/table">
            <a:tbl>
              <a:tblPr/>
              <a:tblGrid>
                <a:gridCol w="977876">
                  <a:extLst>
                    <a:ext uri="{9D8B030D-6E8A-4147-A177-3AD203B41FA5}">
                      <a16:colId xmlns:a16="http://schemas.microsoft.com/office/drawing/2014/main" val="20000"/>
                    </a:ext>
                  </a:extLst>
                </a:gridCol>
                <a:gridCol w="977876">
                  <a:extLst>
                    <a:ext uri="{9D8B030D-6E8A-4147-A177-3AD203B41FA5}">
                      <a16:colId xmlns:a16="http://schemas.microsoft.com/office/drawing/2014/main" val="20001"/>
                    </a:ext>
                  </a:extLst>
                </a:gridCol>
                <a:gridCol w="977876">
                  <a:extLst>
                    <a:ext uri="{9D8B030D-6E8A-4147-A177-3AD203B41FA5}">
                      <a16:colId xmlns:a16="http://schemas.microsoft.com/office/drawing/2014/main" val="20002"/>
                    </a:ext>
                  </a:extLst>
                </a:gridCol>
                <a:gridCol w="977876">
                  <a:extLst>
                    <a:ext uri="{9D8B030D-6E8A-4147-A177-3AD203B41FA5}">
                      <a16:colId xmlns:a16="http://schemas.microsoft.com/office/drawing/2014/main" val="20003"/>
                    </a:ext>
                  </a:extLst>
                </a:gridCol>
                <a:gridCol w="977876">
                  <a:extLst>
                    <a:ext uri="{9D8B030D-6E8A-4147-A177-3AD203B41FA5}">
                      <a16:colId xmlns:a16="http://schemas.microsoft.com/office/drawing/2014/main" val="20004"/>
                    </a:ext>
                  </a:extLst>
                </a:gridCol>
              </a:tblGrid>
              <a:tr h="468598">
                <a:tc>
                  <a:txBody>
                    <a:bodyPr/>
                    <a:lstStyle/>
                    <a:p>
                      <a:pPr marL="0" indent="0" algn="l">
                        <a:buNone/>
                      </a:pPr>
                      <a:r>
                        <a:rPr lang="en-US" sz="1350" kern="100" spc="135" dirty="0">
                          <a:solidFill>
                            <a:srgbClr val="1B2659"/>
                          </a:solidFill>
                          <a:latin typeface="Kumbh Sans" pitchFamily="34" charset="0"/>
                          <a:ea typeface="Kumbh Sans" pitchFamily="34" charset="-122"/>
                          <a:cs typeface="Kumbh Sans" pitchFamily="34" charset="-120"/>
                        </a:rPr>
                        <a:t>S</a:t>
                      </a:r>
                      <a:endParaRPr lang="en-US" sz="135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FCF7EC"/>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350" kern="100" spc="135" dirty="0">
                          <a:solidFill>
                            <a:srgbClr val="1B2659"/>
                          </a:solidFill>
                          <a:latin typeface="Kumbh Sans" pitchFamily="34" charset="0"/>
                          <a:ea typeface="Kumbh Sans" pitchFamily="34" charset="-122"/>
                          <a:cs typeface="Kumbh Sans" pitchFamily="34" charset="-120"/>
                        </a:rPr>
                        <a:t>D</a:t>
                      </a:r>
                      <a:endParaRPr lang="en-US" sz="135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FCF7EC"/>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350" kern="100" spc="135" dirty="0">
                          <a:solidFill>
                            <a:srgbClr val="1B2659"/>
                          </a:solidFill>
                          <a:latin typeface="Kumbh Sans" pitchFamily="34" charset="0"/>
                          <a:ea typeface="Kumbh Sans" pitchFamily="34" charset="-122"/>
                          <a:cs typeface="Kumbh Sans" pitchFamily="34" charset="-120"/>
                        </a:rPr>
                        <a:t>W</a:t>
                      </a:r>
                      <a:endParaRPr lang="en-US" sz="135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FCF7EC"/>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350" kern="100" spc="135" dirty="0">
                          <a:solidFill>
                            <a:srgbClr val="1B2659"/>
                          </a:solidFill>
                          <a:latin typeface="Kumbh Sans" pitchFamily="34" charset="0"/>
                          <a:ea typeface="Kumbh Sans" pitchFamily="34" charset="-122"/>
                          <a:cs typeface="Kumbh Sans" pitchFamily="34" charset="-120"/>
                        </a:rPr>
                        <a:t>M</a:t>
                      </a:r>
                      <a:endParaRPr lang="en-US" sz="135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FCF7EC"/>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350" kern="100" spc="135" dirty="0">
                          <a:solidFill>
                            <a:srgbClr val="1B2659"/>
                          </a:solidFill>
                          <a:latin typeface="Kumbh Sans" pitchFamily="34" charset="0"/>
                          <a:ea typeface="Kumbh Sans" pitchFamily="34" charset="-122"/>
                          <a:cs typeface="Kumbh Sans" pitchFamily="34" charset="-120"/>
                        </a:rPr>
                        <a:t>A</a:t>
                      </a:r>
                      <a:endParaRPr lang="en-US" sz="135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FCF7EC"/>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extLst>
                  <a:ext uri="{0D108BD9-81ED-4DB2-BD59-A6C34878D82A}">
                    <a16:rowId xmlns:a16="http://schemas.microsoft.com/office/drawing/2014/main" val="10000"/>
                  </a:ext>
                </a:extLst>
              </a:tr>
              <a:tr h="511758">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0</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0</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0</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0</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0</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extLst>
                  <a:ext uri="{0D108BD9-81ED-4DB2-BD59-A6C34878D82A}">
                    <a16:rowId xmlns:a16="http://schemas.microsoft.com/office/drawing/2014/main" val="10001"/>
                  </a:ext>
                </a:extLst>
              </a:tr>
              <a:tr h="511758">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0</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1</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1</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1</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0</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extLst>
                  <a:ext uri="{0D108BD9-81ED-4DB2-BD59-A6C34878D82A}">
                    <a16:rowId xmlns:a16="http://schemas.microsoft.com/office/drawing/2014/main" val="10002"/>
                  </a:ext>
                </a:extLst>
              </a:tr>
              <a:tr h="511758">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1</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0</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0</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0</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0</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extLst>
                  <a:ext uri="{0D108BD9-81ED-4DB2-BD59-A6C34878D82A}">
                    <a16:rowId xmlns:a16="http://schemas.microsoft.com/office/drawing/2014/main" val="10003"/>
                  </a:ext>
                </a:extLst>
              </a:tr>
              <a:tr h="511758">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1</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1</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0</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0</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1</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extLst>
                  <a:ext uri="{0D108BD9-81ED-4DB2-BD59-A6C34878D82A}">
                    <a16:rowId xmlns:a16="http://schemas.microsoft.com/office/drawing/2014/main" val="10004"/>
                  </a:ext>
                </a:extLst>
              </a:tr>
              <a:tr h="511758">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1</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0</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1</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0</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1</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extLst>
                  <a:ext uri="{0D108BD9-81ED-4DB2-BD59-A6C34878D82A}">
                    <a16:rowId xmlns:a16="http://schemas.microsoft.com/office/drawing/2014/main" val="10005"/>
                  </a:ext>
                </a:extLst>
              </a:tr>
              <a:tr h="511758">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1</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0</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0</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1</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1</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1B2659"/>
                      </a:solidFill>
                      <a:prstDash val="solid"/>
                      <a:round/>
                      <a:headEnd type="none" w="med" len="med"/>
                      <a:tailEnd type="none" w="med" len="med"/>
                    </a:lnB>
                  </a:tcPr>
                </a:tc>
                <a:extLst>
                  <a:ext uri="{0D108BD9-81ED-4DB2-BD59-A6C34878D82A}">
                    <a16:rowId xmlns:a16="http://schemas.microsoft.com/office/drawing/2014/main" val="10006"/>
                  </a:ext>
                </a:extLst>
              </a:tr>
              <a:tr h="511758">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1</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FCF7EC"/>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1</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FCF7EC"/>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1</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FCF7EC"/>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1</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FCF7EC"/>
                      </a:solidFill>
                      <a:prstDash val="solid"/>
                      <a:round/>
                      <a:headEnd type="none" w="med" len="med"/>
                      <a:tailEnd type="none" w="med" len="med"/>
                    </a:lnB>
                  </a:tcPr>
                </a:tc>
                <a:tc>
                  <a:txBody>
                    <a:bodyPr/>
                    <a:lstStyle/>
                    <a:p>
                      <a:pPr marL="0" indent="0" algn="l">
                        <a:buNone/>
                      </a:pPr>
                      <a:r>
                        <a:rPr lang="en-US" sz="1700" dirty="0">
                          <a:solidFill>
                            <a:srgbClr val="22262E"/>
                          </a:solidFill>
                          <a:latin typeface="Kumbh Sans" pitchFamily="34" charset="0"/>
                          <a:ea typeface="Kumbh Sans" pitchFamily="34" charset="-122"/>
                          <a:cs typeface="Kumbh Sans" pitchFamily="34" charset="-120"/>
                        </a:rPr>
                        <a:t>1</a:t>
                      </a:r>
                      <a:endParaRPr lang="en-US" sz="1700" dirty="0">
                        <a:latin typeface="Kumbh Sans" pitchFamily="34" charset="0"/>
                        <a:ea typeface="Kumbh Sans" pitchFamily="34" charset="0"/>
                        <a:cs typeface="Kumbh Sans" pitchFamily="34" charset="0"/>
                      </a:endParaRPr>
                    </a:p>
                  </a:txBody>
                  <a:tcPr marL="152396" marR="152396" marT="101598" marB="101598" anchor="ctr">
                    <a:lnL w="12700" cap="flat" cmpd="sng" algn="ctr">
                      <a:solidFill>
                        <a:srgbClr val="FCF7EC"/>
                      </a:solidFill>
                      <a:prstDash val="solid"/>
                      <a:round/>
                      <a:headEnd type="none" w="med" len="med"/>
                      <a:tailEnd type="none" w="med" len="med"/>
                    </a:lnL>
                    <a:lnR w="12700" cap="flat" cmpd="sng" algn="ctr">
                      <a:solidFill>
                        <a:srgbClr val="FCF7EC"/>
                      </a:solidFill>
                      <a:prstDash val="solid"/>
                      <a:round/>
                      <a:headEnd type="none" w="med" len="med"/>
                      <a:tailEnd type="none" w="med" len="med"/>
                    </a:lnR>
                    <a:lnT w="12700" cap="flat" cmpd="sng" algn="ctr">
                      <a:solidFill>
                        <a:srgbClr val="1B2659"/>
                      </a:solidFill>
                      <a:prstDash val="solid"/>
                      <a:round/>
                      <a:headEnd type="none" w="med" len="med"/>
                      <a:tailEnd type="none" w="med" len="med"/>
                    </a:lnT>
                    <a:lnB w="12700" cap="flat" cmpd="sng" algn="ctr">
                      <a:solidFill>
                        <a:srgbClr val="FCF7EC"/>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2" name="Text 9"/>
          <p:cNvSpPr/>
          <p:nvPr/>
        </p:nvSpPr>
        <p:spPr>
          <a:xfrm>
            <a:off x="2946326" y="6104830"/>
            <a:ext cx="4889378" cy="206375"/>
          </a:xfrm>
          <a:prstGeom prst="rect">
            <a:avLst/>
          </a:prstGeom>
          <a:noFill/>
        </p:spPr>
        <p:txBody>
          <a:bodyPr wrap="none" lIns="0" tIns="0" rIns="0" bIns="0" rtlCol="0" anchor="t"/>
          <a:lstStyle/>
          <a:p>
            <a:pPr marL="0" indent="0" algn="l">
              <a:lnSpc>
                <a:spcPct val="108000"/>
              </a:lnSpc>
              <a:buNone/>
            </a:pPr>
            <a:r>
              <a:rPr lang="en-US" sz="1250" kern="100" spc="12" dirty="0">
                <a:solidFill>
                  <a:srgbClr val="5A5F6B"/>
                </a:solidFill>
                <a:latin typeface="Kumbh Sans" pitchFamily="34" charset="0"/>
                <a:ea typeface="Kumbh Sans" pitchFamily="34" charset="-122"/>
                <a:cs typeface="Kumbh Sans" pitchFamily="34" charset="-120"/>
              </a:rPr>
              <a:t>Representative input-output combinations</a:t>
            </a:r>
            <a:endParaRPr lang="en-US" sz="1250" dirty="0"/>
          </a:p>
        </p:txBody>
      </p:sp>
      <p:sp>
        <p:nvSpPr>
          <p:cNvPr id="13" name="Shape 10"/>
          <p:cNvSpPr/>
          <p:nvPr/>
        </p:nvSpPr>
        <p:spPr>
          <a:xfrm>
            <a:off x="8140496" y="1764209"/>
            <a:ext cx="3492413" cy="3644404"/>
          </a:xfrm>
          <a:prstGeom prst="roundRect">
            <a:avLst>
              <a:gd name="adj" fmla="val 327"/>
            </a:avLst>
          </a:prstGeom>
          <a:noFill/>
          <a:ln w="25399">
            <a:solidFill>
              <a:srgbClr val="8A4E0E"/>
            </a:solidFill>
            <a:prstDash val="solid"/>
          </a:ln>
        </p:spPr>
      </p:sp>
      <p:sp>
        <p:nvSpPr>
          <p:cNvPr id="14" name="Text 11"/>
          <p:cNvSpPr/>
          <p:nvPr/>
        </p:nvSpPr>
        <p:spPr>
          <a:xfrm>
            <a:off x="8801674" y="2020495"/>
            <a:ext cx="2779643" cy="182860"/>
          </a:xfrm>
          <a:prstGeom prst="rect">
            <a:avLst/>
          </a:prstGeom>
          <a:noFill/>
        </p:spPr>
        <p:txBody>
          <a:bodyPr wrap="none" lIns="0" tIns="0" rIns="0" bIns="0" rtlCol="0" anchor="t"/>
          <a:lstStyle/>
          <a:p>
            <a:pPr marL="0" indent="0" algn="l">
              <a:lnSpc>
                <a:spcPct val="100000"/>
              </a:lnSpc>
              <a:buNone/>
            </a:pPr>
            <a:r>
              <a:rPr lang="en-US" sz="1200" kern="100" spc="168" dirty="0">
                <a:solidFill>
                  <a:srgbClr val="8A4E0E"/>
                </a:solidFill>
                <a:latin typeface="Kumbh Sans SemiBold" pitchFamily="34" charset="0"/>
                <a:ea typeface="Kumbh Sans SemiBold" pitchFamily="34" charset="-122"/>
                <a:cs typeface="Kumbh Sans SemiBold" pitchFamily="34" charset="-120"/>
              </a:rPr>
              <a:t>SIMULATION EVIDENCE</a:t>
            </a:r>
            <a:endParaRPr lang="en-US" sz="1200" dirty="0"/>
          </a:p>
        </p:txBody>
      </p:sp>
      <p:sp>
        <p:nvSpPr>
          <p:cNvPr id="15" name="Text 12"/>
          <p:cNvSpPr/>
          <p:nvPr/>
        </p:nvSpPr>
        <p:spPr>
          <a:xfrm>
            <a:off x="8394490" y="2286794"/>
            <a:ext cx="2984425" cy="2239169"/>
          </a:xfrm>
          <a:prstGeom prst="rect">
            <a:avLst/>
          </a:prstGeom>
          <a:noFill/>
        </p:spPr>
        <p:txBody>
          <a:bodyPr wrap="square" lIns="0" tIns="0" rIns="0" bIns="0" rtlCol="0" anchor="t">
            <a:normAutofit/>
          </a:bodyPr>
          <a:lstStyle/>
          <a:p>
            <a:pPr marL="0" indent="0" algn="l">
              <a:lnSpc>
                <a:spcPct val="97000"/>
              </a:lnSpc>
              <a:buNone/>
            </a:pPr>
            <a:r>
              <a:rPr lang="en-US" sz="3800" kern="100" spc="-38" dirty="0">
                <a:solidFill>
                  <a:srgbClr val="1B2659"/>
                </a:solidFill>
                <a:latin typeface="Martel ExtraBold" panose="00000900000000000000" pitchFamily="34" charset="0"/>
                <a:ea typeface="Martel ExtraBold" panose="00000900000000000000" pitchFamily="34" charset="-122"/>
                <a:cs typeface="Martel ExtraBold" panose="00000900000000000000" pitchFamily="34" charset="-120"/>
              </a:rPr>
              <a:t>[Insert actual</a:t>
            </a:r>
            <a:endParaRPr lang="en-US" sz="3800" dirty="0"/>
          </a:p>
          <a:p>
            <a:pPr marL="0" indent="0" algn="l">
              <a:lnSpc>
                <a:spcPct val="97000"/>
              </a:lnSpc>
              <a:buNone/>
            </a:pPr>
            <a:r>
              <a:rPr lang="en-US" sz="3800" kern="100" spc="-38" dirty="0">
                <a:solidFill>
                  <a:srgbClr val="1B2659"/>
                </a:solidFill>
                <a:latin typeface="Martel ExtraBold" panose="00000900000000000000" pitchFamily="34" charset="0"/>
                <a:ea typeface="Martel ExtraBold" panose="00000900000000000000" pitchFamily="34" charset="-122"/>
                <a:cs typeface="Martel ExtraBold" panose="00000900000000000000" pitchFamily="34" charset="-120"/>
              </a:rPr>
              <a:t>Logisim screenshot]</a:t>
            </a:r>
            <a:endParaRPr lang="en-US" sz="3800" dirty="0"/>
          </a:p>
        </p:txBody>
      </p:sp>
      <p:sp>
        <p:nvSpPr>
          <p:cNvPr id="16" name="Text 13"/>
          <p:cNvSpPr/>
          <p:nvPr/>
        </p:nvSpPr>
        <p:spPr>
          <a:xfrm>
            <a:off x="8394490" y="4747419"/>
            <a:ext cx="2984425" cy="412750"/>
          </a:xfrm>
          <a:prstGeom prst="rect">
            <a:avLst/>
          </a:prstGeom>
          <a:noFill/>
        </p:spPr>
        <p:txBody>
          <a:bodyPr wrap="square" lIns="0" tIns="0" rIns="0" bIns="0" rtlCol="0" anchor="t">
            <a:normAutofit/>
          </a:bodyPr>
          <a:lstStyle/>
          <a:p>
            <a:pPr marL="0" indent="0" algn="l">
              <a:lnSpc>
                <a:spcPct val="108000"/>
              </a:lnSpc>
              <a:buNone/>
            </a:pPr>
            <a:r>
              <a:rPr lang="en-US" sz="1250" kern="100" spc="12" dirty="0">
                <a:solidFill>
                  <a:srgbClr val="5A5F6B"/>
                </a:solidFill>
                <a:latin typeface="Kumbh Sans" pitchFamily="34" charset="0"/>
                <a:ea typeface="Kumbh Sans" pitchFamily="34" charset="-122"/>
                <a:cs typeface="Kumbh Sans" pitchFamily="34" charset="-120"/>
              </a:rPr>
              <a:t>Replace this placeholder before submission.</a:t>
            </a:r>
            <a:endParaRPr lang="en-US" sz="1250" dirty="0"/>
          </a:p>
        </p:txBody>
      </p:sp>
      <p:sp>
        <p:nvSpPr>
          <p:cNvPr id="17" name="Text 14"/>
          <p:cNvSpPr/>
          <p:nvPr/>
        </p:nvSpPr>
        <p:spPr>
          <a:xfrm>
            <a:off x="8140496" y="5535613"/>
            <a:ext cx="3492413" cy="927100"/>
          </a:xfrm>
          <a:prstGeom prst="rect">
            <a:avLst/>
          </a:prstGeom>
          <a:noFill/>
        </p:spPr>
        <p:txBody>
          <a:bodyPr wrap="square" lIns="0" tIns="0" rIns="0" bIns="0" rtlCol="0" anchor="t">
            <a:normAutofit/>
          </a:bodyPr>
          <a:lstStyle/>
          <a:p>
            <a:pPr marL="0" indent="0" algn="l">
              <a:lnSpc>
                <a:spcPct val="117000"/>
              </a:lnSpc>
              <a:spcAft>
                <a:spcPts val="950"/>
              </a:spcAft>
              <a:buNone/>
            </a:pPr>
            <a:r>
              <a:rPr lang="en-US" sz="1500" b="1" dirty="0">
                <a:solidFill>
                  <a:srgbClr val="22262E"/>
                </a:solidFill>
                <a:latin typeface="Kumbh Sans Bold" pitchFamily="34" charset="0"/>
                <a:ea typeface="Kumbh Sans Bold" pitchFamily="34" charset="-122"/>
                <a:cs typeface="Kumbh Sans Bold" pitchFamily="34" charset="-120"/>
              </a:rPr>
              <a:t>S = 0:</a:t>
            </a:r>
            <a:r>
              <a:rPr lang="en-US" sz="1500" dirty="0">
                <a:solidFill>
                  <a:srgbClr val="22262E"/>
                </a:solidFill>
                <a:latin typeface="Kumbh Sans" pitchFamily="34" charset="0"/>
                <a:ea typeface="Kumbh Sans" pitchFamily="34" charset="-122"/>
                <a:cs typeface="Kumbh Sans" pitchFamily="34" charset="-120"/>
              </a:rPr>
              <a:t> alarm stays LOW for every sensor combination.</a:t>
            </a:r>
            <a:endParaRPr lang="en-US" sz="1500" dirty="0"/>
          </a:p>
          <a:p>
            <a:pPr marL="0" indent="0" algn="l">
              <a:lnSpc>
                <a:spcPct val="117000"/>
              </a:lnSpc>
              <a:buNone/>
            </a:pPr>
            <a:r>
              <a:rPr lang="en-US" sz="1500" b="1" dirty="0">
                <a:solidFill>
                  <a:srgbClr val="22262E"/>
                </a:solidFill>
                <a:latin typeface="Kumbh Sans Bold" pitchFamily="34" charset="0"/>
                <a:ea typeface="Kumbh Sans Bold" pitchFamily="34" charset="-122"/>
                <a:cs typeface="Kumbh Sans Bold" pitchFamily="34" charset="-120"/>
              </a:rPr>
              <a:t>S = 1:</a:t>
            </a:r>
            <a:r>
              <a:rPr lang="en-US" sz="1500" dirty="0">
                <a:solidFill>
                  <a:srgbClr val="22262E"/>
                </a:solidFill>
                <a:latin typeface="Kumbh Sans" pitchFamily="34" charset="0"/>
                <a:ea typeface="Kumbh Sans" pitchFamily="34" charset="-122"/>
                <a:cs typeface="Kumbh Sans" pitchFamily="34" charset="-120"/>
              </a:rPr>
              <a:t> any active sensor makes </a:t>
            </a:r>
            <a:r>
              <a:rPr lang="en-US" sz="1500" b="1" dirty="0">
                <a:solidFill>
                  <a:srgbClr val="22262E"/>
                </a:solidFill>
                <a:latin typeface="Kumbh Sans Bold" pitchFamily="34" charset="0"/>
                <a:ea typeface="Kumbh Sans Bold" pitchFamily="34" charset="-122"/>
                <a:cs typeface="Kumbh Sans Bold" pitchFamily="34" charset="-120"/>
              </a:rPr>
              <a:t>A = 1</a:t>
            </a:r>
            <a:r>
              <a:rPr lang="en-US" sz="1500" dirty="0">
                <a:solidFill>
                  <a:srgbClr val="22262E"/>
                </a:solidFill>
                <a:latin typeface="Kumbh Sans" pitchFamily="34" charset="0"/>
                <a:ea typeface="Kumbh Sans" pitchFamily="34" charset="-122"/>
                <a:cs typeface="Kumbh Sans" pitchFamily="34" charset="-120"/>
              </a:rPr>
              <a:t>.</a:t>
            </a:r>
            <a:endParaRPr lang="en-US" sz="1500" dirty="0"/>
          </a:p>
        </p:txBody>
      </p:sp>
      <p:sp>
        <p:nvSpPr>
          <p:cNvPr id="18" name="Shape 15"/>
          <p:cNvSpPr/>
          <p:nvPr/>
        </p:nvSpPr>
        <p:spPr>
          <a:xfrm>
            <a:off x="2431989" y="0"/>
            <a:ext cx="12700" cy="6858000"/>
          </a:xfrm>
          <a:prstGeom prst="rect">
            <a:avLst/>
          </a:prstGeom>
          <a:solidFill>
            <a:srgbClr val="E3A33B"/>
          </a:solidFill>
        </p:spPr>
      </p:sp>
      <p:sp>
        <p:nvSpPr>
          <p:cNvPr id="19" name="Text 16"/>
          <p:cNvSpPr/>
          <p:nvPr/>
        </p:nvSpPr>
        <p:spPr>
          <a:xfrm>
            <a:off x="609585" y="6446540"/>
            <a:ext cx="1151107" cy="213320"/>
          </a:xfrm>
          <a:prstGeom prst="rect">
            <a:avLst/>
          </a:prstGeom>
          <a:noFill/>
        </p:spPr>
        <p:txBody>
          <a:bodyPr wrap="none" lIns="0" tIns="0" rIns="0" bIns="0" rtlCol="0" anchor="ctr"/>
          <a:lstStyle/>
          <a:p>
            <a:pPr marL="0" indent="0" algn="l">
              <a:lnSpc>
                <a:spcPct val="117000"/>
              </a:lnSpc>
              <a:buNone/>
            </a:pPr>
            <a:r>
              <a:rPr lang="en-US" sz="1200" kern="100" spc="48" dirty="0">
                <a:solidFill>
                  <a:srgbClr val="E3A33B"/>
                </a:solidFill>
                <a:latin typeface="Martel SemiBold" panose="00000700000000000000" pitchFamily="34" charset="0"/>
                <a:ea typeface="Martel SemiBold" panose="00000700000000000000" pitchFamily="34" charset="-122"/>
                <a:cs typeface="Martel SemiBold" panose="00000700000000000000" pitchFamily="34" charset="-120"/>
              </a:rPr>
              <a:t>05 / 07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438339" cy="6875562"/>
          </a:xfrm>
          <a:prstGeom prst="rect">
            <a:avLst/>
          </a:prstGeom>
          <a:solidFill>
            <a:srgbClr val="1B2659"/>
          </a:solidFill>
        </p:spPr>
      </p:sp>
      <p:sp>
        <p:nvSpPr>
          <p:cNvPr id="3" name="Shape 1"/>
          <p:cNvSpPr/>
          <p:nvPr/>
        </p:nvSpPr>
        <p:spPr>
          <a:xfrm>
            <a:off x="279294" y="330200"/>
            <a:ext cx="660284" cy="660301"/>
          </a:xfrm>
          <a:prstGeom prst="ellipse">
            <a:avLst/>
          </a:prstGeom>
          <a:noFill/>
          <a:ln w="19050">
            <a:solidFill>
              <a:srgbClr val="E3A33B"/>
            </a:solidFill>
            <a:prstDash val="solid"/>
          </a:ln>
        </p:spPr>
      </p:sp>
      <p:sp>
        <p:nvSpPr>
          <p:cNvPr id="4" name="Text 2"/>
          <p:cNvSpPr/>
          <p:nvPr/>
        </p:nvSpPr>
        <p:spPr>
          <a:xfrm>
            <a:off x="279393" y="1246886"/>
            <a:ext cx="2158946" cy="182860"/>
          </a:xfrm>
          <a:prstGeom prst="rect">
            <a:avLst/>
          </a:prstGeom>
          <a:noFill/>
        </p:spPr>
        <p:txBody>
          <a:bodyPr wrap="none" lIns="0" tIns="0" rIns="0" bIns="0" rtlCol="0" anchor="t"/>
          <a:lstStyle/>
          <a:p>
            <a:pPr marL="0" indent="0" algn="l">
              <a:lnSpc>
                <a:spcPct val="100000"/>
              </a:lnSpc>
              <a:buNone/>
            </a:pPr>
            <a:r>
              <a:rPr lang="en-US" sz="1200" kern="100" spc="168" dirty="0">
                <a:solidFill>
                  <a:srgbClr val="E3A33B"/>
                </a:solidFill>
                <a:latin typeface="Kumbh Sans SemiBold" pitchFamily="34" charset="0"/>
                <a:ea typeface="Kumbh Sans SemiBold" pitchFamily="34" charset="-122"/>
                <a:cs typeface="Kumbh Sans SemiBold" pitchFamily="34" charset="-120"/>
              </a:rPr>
              <a:t>PROJECT 05</a:t>
            </a:r>
            <a:endParaRPr lang="en-US" sz="1200" dirty="0"/>
          </a:p>
        </p:txBody>
      </p:sp>
      <p:sp>
        <p:nvSpPr>
          <p:cNvPr id="5" name="Text 3"/>
          <p:cNvSpPr/>
          <p:nvPr/>
        </p:nvSpPr>
        <p:spPr>
          <a:xfrm>
            <a:off x="279393" y="1521123"/>
            <a:ext cx="2158946" cy="266700"/>
          </a:xfrm>
          <a:prstGeom prst="rect">
            <a:avLst/>
          </a:prstGeom>
          <a:noFill/>
        </p:spPr>
        <p:txBody>
          <a:bodyPr wrap="none" lIns="0" tIns="0" rIns="0" bIns="0" rtlCol="0" anchor="t"/>
          <a:lstStyle/>
          <a:p>
            <a:pPr marL="0" indent="0" algn="l">
              <a:lnSpc>
                <a:spcPct val="117000"/>
              </a:lnSpc>
              <a:buNone/>
            </a:pPr>
            <a:r>
              <a:rPr lang="en-US" sz="1500" dirty="0">
                <a:solidFill>
                  <a:srgbClr val="FFFFFF"/>
                </a:solidFill>
                <a:latin typeface="Kumbh Sans" pitchFamily="34" charset="0"/>
                <a:ea typeface="Kumbh Sans" pitchFamily="34" charset="-122"/>
                <a:cs typeface="Kumbh Sans" pitchFamily="34" charset="-120"/>
              </a:rPr>
              <a:t>Smart Home Security</a:t>
            </a:r>
            <a:endParaRPr lang="en-US" sz="1500" dirty="0"/>
          </a:p>
        </p:txBody>
      </p:sp>
      <p:sp>
        <p:nvSpPr>
          <p:cNvPr id="6" name="Shape 4"/>
          <p:cNvSpPr/>
          <p:nvPr/>
        </p:nvSpPr>
        <p:spPr>
          <a:xfrm>
            <a:off x="279393" y="1924348"/>
            <a:ext cx="482588" cy="31651"/>
          </a:xfrm>
          <a:prstGeom prst="roundRect">
            <a:avLst>
              <a:gd name="adj" fmla="val 49998"/>
            </a:avLst>
          </a:prstGeom>
          <a:solidFill>
            <a:srgbClr val="E3A33B"/>
          </a:solidFill>
        </p:spPr>
      </p:sp>
      <p:sp>
        <p:nvSpPr>
          <p:cNvPr id="7" name="Text 5"/>
          <p:cNvSpPr/>
          <p:nvPr/>
        </p:nvSpPr>
        <p:spPr>
          <a:xfrm>
            <a:off x="279393" y="2099671"/>
            <a:ext cx="2158946" cy="182860"/>
          </a:xfrm>
          <a:prstGeom prst="rect">
            <a:avLst/>
          </a:prstGeom>
          <a:noFill/>
        </p:spPr>
        <p:txBody>
          <a:bodyPr wrap="none" lIns="0" tIns="0" rIns="0" bIns="0" rtlCol="0" anchor="t"/>
          <a:lstStyle/>
          <a:p>
            <a:pPr marL="0" indent="0" algn="l">
              <a:lnSpc>
                <a:spcPct val="100000"/>
              </a:lnSpc>
              <a:buNone/>
            </a:pPr>
            <a:r>
              <a:rPr lang="en-US" sz="1200" kern="100" spc="168" dirty="0">
                <a:solidFill>
                  <a:srgbClr val="FFFFFF"/>
                </a:solidFill>
                <a:latin typeface="Kumbh Sans SemiBold" pitchFamily="34" charset="0"/>
                <a:ea typeface="Kumbh Sans SemiBold" pitchFamily="34" charset="-122"/>
                <a:cs typeface="Kumbh Sans SemiBold" pitchFamily="34" charset="-120"/>
              </a:rPr>
              <a:t>CONCLUSION</a:t>
            </a:r>
            <a:endParaRPr lang="en-US" sz="1200" dirty="0"/>
          </a:p>
        </p:txBody>
      </p:sp>
      <p:sp>
        <p:nvSpPr>
          <p:cNvPr id="8" name="Text 6"/>
          <p:cNvSpPr/>
          <p:nvPr/>
        </p:nvSpPr>
        <p:spPr>
          <a:xfrm>
            <a:off x="279393" y="5811143"/>
            <a:ext cx="2158946" cy="206375"/>
          </a:xfrm>
          <a:prstGeom prst="rect">
            <a:avLst/>
          </a:prstGeom>
          <a:noFill/>
        </p:spPr>
        <p:txBody>
          <a:bodyPr wrap="none" lIns="0" tIns="0" rIns="0" bIns="0" rtlCol="0" anchor="t"/>
          <a:lstStyle/>
          <a:p>
            <a:pPr marL="0" indent="0" algn="l">
              <a:lnSpc>
                <a:spcPct val="108000"/>
              </a:lnSpc>
              <a:buNone/>
            </a:pPr>
            <a:r>
              <a:rPr lang="en-US" sz="1250" kern="100" spc="12" dirty="0">
                <a:solidFill>
                  <a:srgbClr val="FFFFFF"/>
                </a:solidFill>
                <a:latin typeface="Kumbh Sans" pitchFamily="34" charset="0"/>
                <a:ea typeface="Kumbh Sans" pitchFamily="34" charset="-122"/>
                <a:cs typeface="Kumbh Sans" pitchFamily="34" charset="-120"/>
              </a:rPr>
              <a:t>Applications · Next steps</a:t>
            </a:r>
            <a:endParaRPr lang="en-US" sz="1250" dirty="0"/>
          </a:p>
        </p:txBody>
      </p:sp>
      <p:sp>
        <p:nvSpPr>
          <p:cNvPr id="9" name="Text 7"/>
          <p:cNvSpPr/>
          <p:nvPr/>
        </p:nvSpPr>
        <p:spPr>
          <a:xfrm>
            <a:off x="2946326" y="438467"/>
            <a:ext cx="8686583" cy="822920"/>
          </a:xfrm>
          <a:prstGeom prst="rect">
            <a:avLst/>
          </a:prstGeom>
          <a:noFill/>
        </p:spPr>
        <p:txBody>
          <a:bodyPr wrap="square" lIns="0" tIns="0" rIns="0" bIns="0" rtlCol="0" anchor="t">
            <a:normAutofit/>
          </a:bodyPr>
          <a:lstStyle/>
          <a:p>
            <a:pPr marL="0" indent="0" algn="l">
              <a:lnSpc>
                <a:spcPct val="90000"/>
              </a:lnSpc>
              <a:buNone/>
            </a:pPr>
            <a:r>
              <a:rPr lang="en-US" sz="3000" kern="100" spc="-30" dirty="0">
                <a:solidFill>
                  <a:srgbClr val="1B2659"/>
                </a:solidFill>
                <a:latin typeface="Martel ExtraBold" panose="00000900000000000000" pitchFamily="34" charset="0"/>
                <a:ea typeface="Martel ExtraBold" panose="00000900000000000000" pitchFamily="34" charset="-122"/>
                <a:cs typeface="Martel ExtraBold" panose="00000900000000000000" pitchFamily="34" charset="-120"/>
              </a:rPr>
              <a:t>The design is simple, scalable, and ready for improvement</a:t>
            </a:r>
            <a:endParaRPr lang="en-US" sz="3000" dirty="0"/>
          </a:p>
        </p:txBody>
      </p:sp>
      <p:sp>
        <p:nvSpPr>
          <p:cNvPr id="10" name="Shape 8"/>
          <p:cNvSpPr/>
          <p:nvPr/>
        </p:nvSpPr>
        <p:spPr>
          <a:xfrm>
            <a:off x="2946326" y="1523008"/>
            <a:ext cx="8686583" cy="31651"/>
          </a:xfrm>
          <a:prstGeom prst="roundRect">
            <a:avLst>
              <a:gd name="adj" fmla="val 49998"/>
            </a:avLst>
          </a:prstGeom>
          <a:solidFill>
            <a:srgbClr val="E3A33B"/>
          </a:solidFill>
        </p:spPr>
      </p:sp>
      <p:sp>
        <p:nvSpPr>
          <p:cNvPr id="11" name="Text 9"/>
          <p:cNvSpPr/>
          <p:nvPr/>
        </p:nvSpPr>
        <p:spPr>
          <a:xfrm>
            <a:off x="2946326" y="2035453"/>
            <a:ext cx="5308467" cy="675481"/>
          </a:xfrm>
          <a:prstGeom prst="rect">
            <a:avLst/>
          </a:prstGeom>
          <a:noFill/>
        </p:spPr>
        <p:txBody>
          <a:bodyPr wrap="square" lIns="0" tIns="0" rIns="0" bIns="0" rtlCol="0" anchor="t">
            <a:normAutofit/>
          </a:bodyPr>
          <a:lstStyle/>
          <a:p>
            <a:pPr marL="0" indent="0" algn="l">
              <a:lnSpc>
                <a:spcPct val="117000"/>
              </a:lnSpc>
              <a:buNone/>
            </a:pPr>
            <a:r>
              <a:rPr lang="en-US" sz="1900" b="1" dirty="0">
                <a:solidFill>
                  <a:srgbClr val="22262E"/>
                </a:solidFill>
                <a:latin typeface="Kumbh Sans Bold" pitchFamily="34" charset="0"/>
                <a:ea typeface="Kumbh Sans Bold" pitchFamily="34" charset="-122"/>
                <a:cs typeface="Kumbh Sans Bold" pitchFamily="34" charset="-120"/>
              </a:rPr>
              <a:t>A = S(D + W + M)</a:t>
            </a:r>
            <a:r>
              <a:rPr lang="en-US" sz="1900" dirty="0">
                <a:solidFill>
                  <a:srgbClr val="22262E"/>
                </a:solidFill>
                <a:latin typeface="Kumbh Sans" pitchFamily="34" charset="0"/>
                <a:ea typeface="Kumbh Sans" pitchFamily="34" charset="-122"/>
                <a:cs typeface="Kumbh Sans" pitchFamily="34" charset="-120"/>
              </a:rPr>
              <a:t> is implemented and its expected truth-table behavior is validated.</a:t>
            </a:r>
            <a:endParaRPr lang="en-US" sz="1900" dirty="0"/>
          </a:p>
        </p:txBody>
      </p:sp>
      <p:sp>
        <p:nvSpPr>
          <p:cNvPr id="12" name="Text 10"/>
          <p:cNvSpPr/>
          <p:nvPr/>
        </p:nvSpPr>
        <p:spPr>
          <a:xfrm>
            <a:off x="3149521" y="2986588"/>
            <a:ext cx="2451039" cy="182860"/>
          </a:xfrm>
          <a:prstGeom prst="rect">
            <a:avLst/>
          </a:prstGeom>
          <a:noFill/>
        </p:spPr>
        <p:txBody>
          <a:bodyPr wrap="none" lIns="0" tIns="0" rIns="0" bIns="0" rtlCol="0" anchor="t"/>
          <a:lstStyle/>
          <a:p>
            <a:pPr marL="0" indent="0" algn="l">
              <a:lnSpc>
                <a:spcPct val="100000"/>
              </a:lnSpc>
              <a:buNone/>
            </a:pPr>
            <a:r>
              <a:rPr lang="en-US" sz="1200" kern="100" spc="168" dirty="0">
                <a:solidFill>
                  <a:srgbClr val="8A4E0E"/>
                </a:solidFill>
                <a:latin typeface="Kumbh Sans SemiBold" pitchFamily="34" charset="0"/>
                <a:ea typeface="Kumbh Sans SemiBold" pitchFamily="34" charset="-122"/>
                <a:cs typeface="Kumbh Sans SemiBold" pitchFamily="34" charset="-120"/>
              </a:rPr>
              <a:t>APPLICATIONS</a:t>
            </a:r>
            <a:endParaRPr lang="en-US" sz="1200" dirty="0"/>
          </a:p>
        </p:txBody>
      </p:sp>
      <p:sp>
        <p:nvSpPr>
          <p:cNvPr id="13" name="Text 11"/>
          <p:cNvSpPr/>
          <p:nvPr/>
        </p:nvSpPr>
        <p:spPr>
          <a:xfrm>
            <a:off x="3149521" y="3298924"/>
            <a:ext cx="2247844" cy="1333500"/>
          </a:xfrm>
          <a:prstGeom prst="rect">
            <a:avLst/>
          </a:prstGeom>
          <a:noFill/>
        </p:spPr>
        <p:txBody>
          <a:bodyPr wrap="square" lIns="0" tIns="0" rIns="0" bIns="0" rtlCol="0" anchor="t">
            <a:normAutofit/>
          </a:bodyPr>
          <a:lstStyle/>
          <a:p>
            <a:pPr marL="0" indent="0" algn="l">
              <a:lnSpc>
                <a:spcPct val="117000"/>
              </a:lnSpc>
              <a:buNone/>
            </a:pPr>
            <a:r>
              <a:rPr lang="en-US" sz="1500" dirty="0">
                <a:solidFill>
                  <a:srgbClr val="22262E"/>
                </a:solidFill>
                <a:latin typeface="Kumbh Sans" pitchFamily="34" charset="0"/>
                <a:ea typeface="Kumbh Sans" pitchFamily="34" charset="-122"/>
                <a:cs typeface="Kumbh Sans" pitchFamily="34" charset="-120"/>
              </a:rPr>
              <a:t>Home entry protection, room monitoring, laboratory security, and small-office alarm systems.</a:t>
            </a:r>
            <a:endParaRPr lang="en-US" sz="1500" dirty="0"/>
          </a:p>
        </p:txBody>
      </p:sp>
      <p:sp>
        <p:nvSpPr>
          <p:cNvPr id="14" name="Text 12"/>
          <p:cNvSpPr/>
          <p:nvPr/>
        </p:nvSpPr>
        <p:spPr>
          <a:xfrm>
            <a:off x="5803755" y="2986588"/>
            <a:ext cx="2451039" cy="182860"/>
          </a:xfrm>
          <a:prstGeom prst="rect">
            <a:avLst/>
          </a:prstGeom>
          <a:noFill/>
        </p:spPr>
        <p:txBody>
          <a:bodyPr wrap="none" lIns="0" tIns="0" rIns="0" bIns="0" rtlCol="0" anchor="t"/>
          <a:lstStyle/>
          <a:p>
            <a:pPr marL="0" indent="0" algn="l">
              <a:lnSpc>
                <a:spcPct val="100000"/>
              </a:lnSpc>
              <a:buNone/>
            </a:pPr>
            <a:r>
              <a:rPr lang="en-US" sz="1200" kern="100" spc="168" dirty="0">
                <a:solidFill>
                  <a:srgbClr val="8A4E0E"/>
                </a:solidFill>
                <a:latin typeface="Kumbh Sans SemiBold" pitchFamily="34" charset="0"/>
                <a:ea typeface="Kumbh Sans SemiBold" pitchFamily="34" charset="-122"/>
                <a:cs typeface="Kumbh Sans SemiBold" pitchFamily="34" charset="-120"/>
              </a:rPr>
              <a:t>IMPROVEMENTS</a:t>
            </a:r>
            <a:endParaRPr lang="en-US" sz="1200" dirty="0"/>
          </a:p>
        </p:txBody>
      </p:sp>
      <p:sp>
        <p:nvSpPr>
          <p:cNvPr id="15" name="Text 13"/>
          <p:cNvSpPr/>
          <p:nvPr/>
        </p:nvSpPr>
        <p:spPr>
          <a:xfrm>
            <a:off x="5803755" y="3298924"/>
            <a:ext cx="2247844" cy="1333500"/>
          </a:xfrm>
          <a:prstGeom prst="rect">
            <a:avLst/>
          </a:prstGeom>
          <a:noFill/>
        </p:spPr>
        <p:txBody>
          <a:bodyPr wrap="square" lIns="0" tIns="0" rIns="0" bIns="0" rtlCol="0" anchor="t">
            <a:normAutofit/>
          </a:bodyPr>
          <a:lstStyle/>
          <a:p>
            <a:pPr marL="0" indent="0" algn="l">
              <a:lnSpc>
                <a:spcPct val="117000"/>
              </a:lnSpc>
              <a:buNone/>
            </a:pPr>
            <a:r>
              <a:rPr lang="en-US" sz="1500" dirty="0">
                <a:solidFill>
                  <a:srgbClr val="22262E"/>
                </a:solidFill>
                <a:latin typeface="Kumbh Sans" pitchFamily="34" charset="0"/>
                <a:ea typeface="Kumbh Sans" pitchFamily="34" charset="-122"/>
                <a:cs typeface="Kumbh Sans" pitchFamily="34" charset="-120"/>
              </a:rPr>
              <a:t>Panic button, buzzer and siren outputs, alarm latch, password-based arming, or a microcontroller interface.</a:t>
            </a:r>
            <a:endParaRPr lang="en-US" sz="1500" dirty="0"/>
          </a:p>
        </p:txBody>
      </p:sp>
      <p:sp>
        <p:nvSpPr>
          <p:cNvPr id="16" name="Text 14"/>
          <p:cNvSpPr/>
          <p:nvPr/>
        </p:nvSpPr>
        <p:spPr>
          <a:xfrm>
            <a:off x="2946326" y="4907062"/>
            <a:ext cx="5308467" cy="952500"/>
          </a:xfrm>
          <a:prstGeom prst="rect">
            <a:avLst/>
          </a:prstGeom>
          <a:noFill/>
        </p:spPr>
        <p:txBody>
          <a:bodyPr wrap="square" lIns="0" tIns="0" rIns="0" bIns="0" rtlCol="0" anchor="t">
            <a:normAutofit/>
          </a:bodyPr>
          <a:lstStyle/>
          <a:p>
            <a:pPr marL="0" indent="0" algn="l">
              <a:lnSpc>
                <a:spcPct val="108000"/>
              </a:lnSpc>
              <a:spcAft>
                <a:spcPts val="950"/>
              </a:spcAft>
              <a:buNone/>
            </a:pPr>
            <a:r>
              <a:rPr lang="en-US" sz="1250" kern="100" spc="12" dirty="0">
                <a:solidFill>
                  <a:srgbClr val="5A5F6B"/>
                </a:solidFill>
                <a:latin typeface="Kumbh Sans" pitchFamily="34" charset="0"/>
                <a:ea typeface="Kumbh Sans" pitchFamily="34" charset="-122"/>
                <a:cs typeface="Kumbh Sans" pitchFamily="34" charset="-120"/>
              </a:rPr>
              <a:t>Before the viva: demonstrate sensor toggles in Logisim and upload the project file to the team’s existing GitHub repository.</a:t>
            </a:r>
            <a:endParaRPr lang="en-US" sz="1250" dirty="0"/>
          </a:p>
          <a:p>
            <a:pPr marL="0" indent="0" algn="l">
              <a:lnSpc>
                <a:spcPct val="108000"/>
              </a:lnSpc>
              <a:buNone/>
            </a:pPr>
            <a:r>
              <a:rPr lang="en-US" sz="1250" kern="100" spc="12" dirty="0">
                <a:solidFill>
                  <a:srgbClr val="5A5F6B"/>
                </a:solidFill>
                <a:latin typeface="Kumbh Sans" pitchFamily="34" charset="0"/>
                <a:ea typeface="Kumbh Sans" pitchFamily="34" charset="-122"/>
                <a:cs typeface="Kumbh Sans" pitchFamily="34" charset="-120"/>
              </a:rPr>
              <a:t>Replace bracketed team details and the simulation placeholder with your final project evidence.</a:t>
            </a:r>
            <a:endParaRPr lang="en-US" sz="1250" dirty="0"/>
          </a:p>
        </p:txBody>
      </p:sp>
      <p:sp>
        <p:nvSpPr>
          <p:cNvPr id="17" name="Shape 15"/>
          <p:cNvSpPr/>
          <p:nvPr/>
        </p:nvSpPr>
        <p:spPr>
          <a:xfrm>
            <a:off x="8559487" y="1800820"/>
            <a:ext cx="3073323" cy="4287341"/>
          </a:xfrm>
          <a:prstGeom prst="rect">
            <a:avLst/>
          </a:prstGeom>
          <a:noFill/>
          <a:ln w="12700">
            <a:solidFill>
              <a:srgbClr val="E3A33B"/>
            </a:solidFill>
            <a:prstDash val="solid"/>
          </a:ln>
        </p:spPr>
      </p:sp>
      <p:pic>
        <p:nvPicPr>
          <p:cNvPr id="18" name="Image 0" descr="preencoded.png"/>
          <p:cNvPicPr>
            <a:picLocks noChangeAspect="1"/>
          </p:cNvPicPr>
          <p:nvPr/>
        </p:nvPicPr>
        <p:blipFill>
          <a:blip r:embed="rId3"/>
          <a:stretch>
            <a:fillRect/>
          </a:stretch>
        </p:blipFill>
        <p:spPr>
          <a:xfrm>
            <a:off x="8648384" y="1889720"/>
            <a:ext cx="2895528" cy="4109541"/>
          </a:xfrm>
          <a:prstGeom prst="rect">
            <a:avLst/>
          </a:prstGeom>
        </p:spPr>
      </p:pic>
      <p:sp>
        <p:nvSpPr>
          <p:cNvPr id="19" name="Shape 16"/>
          <p:cNvSpPr/>
          <p:nvPr/>
        </p:nvSpPr>
        <p:spPr>
          <a:xfrm>
            <a:off x="2431989" y="0"/>
            <a:ext cx="12700" cy="6875562"/>
          </a:xfrm>
          <a:prstGeom prst="rect">
            <a:avLst/>
          </a:prstGeom>
          <a:solidFill>
            <a:srgbClr val="E3A33B"/>
          </a:solidFill>
        </p:spPr>
      </p:sp>
      <p:sp>
        <p:nvSpPr>
          <p:cNvPr id="20" name="Shape 17"/>
          <p:cNvSpPr/>
          <p:nvPr/>
        </p:nvSpPr>
        <p:spPr>
          <a:xfrm>
            <a:off x="5594210" y="2831902"/>
            <a:ext cx="12700" cy="1948160"/>
          </a:xfrm>
          <a:prstGeom prst="rect">
            <a:avLst/>
          </a:prstGeom>
          <a:solidFill>
            <a:srgbClr val="E3A33B"/>
          </a:solidFill>
        </p:spPr>
      </p:sp>
      <p:sp>
        <p:nvSpPr>
          <p:cNvPr id="21" name="Text 18"/>
          <p:cNvSpPr/>
          <p:nvPr/>
        </p:nvSpPr>
        <p:spPr>
          <a:xfrm>
            <a:off x="609585" y="6446540"/>
            <a:ext cx="1163906" cy="213320"/>
          </a:xfrm>
          <a:prstGeom prst="rect">
            <a:avLst/>
          </a:prstGeom>
          <a:noFill/>
        </p:spPr>
        <p:txBody>
          <a:bodyPr wrap="none" lIns="0" tIns="0" rIns="0" bIns="0" rtlCol="0" anchor="ctr"/>
          <a:lstStyle/>
          <a:p>
            <a:pPr marL="0" indent="0" algn="l">
              <a:lnSpc>
                <a:spcPct val="117000"/>
              </a:lnSpc>
              <a:buNone/>
            </a:pPr>
            <a:r>
              <a:rPr lang="en-US" sz="1200" kern="100" spc="48" dirty="0">
                <a:solidFill>
                  <a:srgbClr val="E3A33B"/>
                </a:solidFill>
                <a:latin typeface="Martel SemiBold" panose="00000700000000000000" pitchFamily="34" charset="0"/>
                <a:ea typeface="Martel SemiBold" panose="00000700000000000000" pitchFamily="34" charset="-122"/>
                <a:cs typeface="Martel SemiBold" panose="00000700000000000000" pitchFamily="34" charset="-120"/>
              </a:rPr>
              <a:t>06 / 07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79294" y="330200"/>
            <a:ext cx="660284" cy="660301"/>
          </a:xfrm>
          <a:prstGeom prst="ellipse">
            <a:avLst/>
          </a:prstGeom>
          <a:noFill/>
          <a:ln w="19050">
            <a:solidFill>
              <a:srgbClr val="E3A33B"/>
            </a:solidFill>
            <a:prstDash val="solid"/>
          </a:ln>
        </p:spPr>
      </p:sp>
      <p:sp>
        <p:nvSpPr>
          <p:cNvPr id="3" name="Text 1"/>
          <p:cNvSpPr/>
          <p:nvPr/>
        </p:nvSpPr>
        <p:spPr>
          <a:xfrm>
            <a:off x="609585" y="2367363"/>
            <a:ext cx="11582110" cy="182860"/>
          </a:xfrm>
          <a:prstGeom prst="rect">
            <a:avLst/>
          </a:prstGeom>
          <a:noFill/>
        </p:spPr>
        <p:txBody>
          <a:bodyPr wrap="none" lIns="0" tIns="0" rIns="0" bIns="0" rtlCol="0" anchor="t"/>
          <a:lstStyle/>
          <a:p>
            <a:pPr marL="0" indent="0" algn="l">
              <a:lnSpc>
                <a:spcPct val="100000"/>
              </a:lnSpc>
              <a:buNone/>
            </a:pPr>
            <a:r>
              <a:rPr lang="en-US" sz="1200" kern="100" spc="168" dirty="0">
                <a:solidFill>
                  <a:srgbClr val="E3A33B"/>
                </a:solidFill>
                <a:latin typeface="Kumbh Sans SemiBold" pitchFamily="34" charset="0"/>
                <a:ea typeface="Kumbh Sans SemiBold" pitchFamily="34" charset="-122"/>
                <a:cs typeface="Kumbh Sans SemiBold" pitchFamily="34" charset="-120"/>
              </a:rPr>
              <a:t>DIGITAL LOGIC · FINAL PROJECT</a:t>
            </a:r>
            <a:endParaRPr lang="en-US" sz="1200" dirty="0"/>
          </a:p>
        </p:txBody>
      </p:sp>
      <p:sp>
        <p:nvSpPr>
          <p:cNvPr id="4" name="Text 2"/>
          <p:cNvSpPr/>
          <p:nvPr/>
        </p:nvSpPr>
        <p:spPr>
          <a:xfrm>
            <a:off x="609585" y="2633663"/>
            <a:ext cx="10972526" cy="824905"/>
          </a:xfrm>
          <a:prstGeom prst="rect">
            <a:avLst/>
          </a:prstGeom>
          <a:noFill/>
        </p:spPr>
        <p:txBody>
          <a:bodyPr wrap="none" lIns="0" tIns="0" rIns="0" bIns="0" rtlCol="0" anchor="t"/>
          <a:lstStyle/>
          <a:p>
            <a:pPr marL="0" indent="0" algn="l">
              <a:lnSpc>
                <a:spcPct val="97000"/>
              </a:lnSpc>
              <a:buNone/>
            </a:pPr>
            <a:r>
              <a:rPr lang="en-US" sz="5600" kern="100" spc="-56" dirty="0">
                <a:solidFill>
                  <a:srgbClr val="FFFFFF"/>
                </a:solidFill>
                <a:latin typeface="Martel ExtraBold" panose="00000900000000000000" pitchFamily="34" charset="0"/>
                <a:ea typeface="Martel ExtraBold" panose="00000900000000000000" pitchFamily="34" charset="-122"/>
                <a:cs typeface="Martel ExtraBold" panose="00000900000000000000" pitchFamily="34" charset="-120"/>
              </a:rPr>
              <a:t>Thank You</a:t>
            </a:r>
            <a:endParaRPr lang="en-US" sz="5600" dirty="0"/>
          </a:p>
        </p:txBody>
      </p:sp>
      <p:sp>
        <p:nvSpPr>
          <p:cNvPr id="5" name="Shape 3"/>
          <p:cNvSpPr/>
          <p:nvPr/>
        </p:nvSpPr>
        <p:spPr>
          <a:xfrm>
            <a:off x="609585" y="3726855"/>
            <a:ext cx="2743131" cy="31651"/>
          </a:xfrm>
          <a:prstGeom prst="roundRect">
            <a:avLst>
              <a:gd name="adj" fmla="val 49998"/>
            </a:avLst>
          </a:prstGeom>
          <a:solidFill>
            <a:srgbClr val="E3A33B"/>
          </a:solidFill>
        </p:spPr>
      </p:sp>
      <p:sp>
        <p:nvSpPr>
          <p:cNvPr id="6" name="Text 4"/>
          <p:cNvSpPr/>
          <p:nvPr/>
        </p:nvSpPr>
        <p:spPr>
          <a:xfrm>
            <a:off x="609585" y="4191357"/>
            <a:ext cx="10972526" cy="313630"/>
          </a:xfrm>
          <a:prstGeom prst="rect">
            <a:avLst/>
          </a:prstGeom>
          <a:noFill/>
        </p:spPr>
        <p:txBody>
          <a:bodyPr wrap="none" lIns="0" tIns="0" rIns="0" bIns="0" rtlCol="0" anchor="t"/>
          <a:lstStyle/>
          <a:p>
            <a:pPr marL="0" indent="0" algn="l">
              <a:lnSpc>
                <a:spcPct val="108000"/>
              </a:lnSpc>
              <a:buNone/>
            </a:pPr>
            <a:r>
              <a:rPr lang="en-US" sz="1900" dirty="0">
                <a:solidFill>
                  <a:srgbClr val="FFFFFF"/>
                </a:solidFill>
                <a:latin typeface="Kumbh Sans Medium" pitchFamily="34" charset="0"/>
                <a:ea typeface="Kumbh Sans Medium" pitchFamily="34" charset="-122"/>
                <a:cs typeface="Kumbh Sans Medium" pitchFamily="34" charset="-120"/>
              </a:rPr>
              <a:t>Thank you for your attention. We welcome your questions.</a:t>
            </a:r>
            <a:endParaRPr lang="en-US" sz="1900" dirty="0"/>
          </a:p>
        </p:txBody>
      </p:sp>
      <p:sp>
        <p:nvSpPr>
          <p:cNvPr id="7" name="Text 5"/>
          <p:cNvSpPr/>
          <p:nvPr/>
        </p:nvSpPr>
        <p:spPr>
          <a:xfrm>
            <a:off x="609585" y="6446540"/>
            <a:ext cx="1162815" cy="213320"/>
          </a:xfrm>
          <a:prstGeom prst="rect">
            <a:avLst/>
          </a:prstGeom>
          <a:noFill/>
        </p:spPr>
        <p:txBody>
          <a:bodyPr wrap="none" lIns="0" tIns="0" rIns="0" bIns="0" rtlCol="0" anchor="ctr"/>
          <a:lstStyle/>
          <a:p>
            <a:pPr marL="0" indent="0" algn="l">
              <a:lnSpc>
                <a:spcPct val="117000"/>
              </a:lnSpc>
              <a:buNone/>
            </a:pPr>
            <a:r>
              <a:rPr lang="en-US" sz="1200" kern="100" spc="48" dirty="0">
                <a:solidFill>
                  <a:srgbClr val="E3A33B"/>
                </a:solidFill>
                <a:latin typeface="Martel SemiBold" panose="00000700000000000000" pitchFamily="34" charset="0"/>
                <a:ea typeface="Martel SemiBold" panose="00000700000000000000" pitchFamily="34" charset="-122"/>
                <a:cs typeface="Martel SemiBold" panose="00000700000000000000" pitchFamily="34" charset="-120"/>
              </a:rPr>
              <a:t>07 / 07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827</Words>
  <Application>Microsoft Office PowerPoint</Application>
  <PresentationFormat>Widescreen</PresentationFormat>
  <Paragraphs>152</Paragraphs>
  <Slides>7</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Calibri</vt:lpstr>
      <vt:lpstr>Kumbh Sans SemiBold</vt:lpstr>
      <vt:lpstr>Arial</vt:lpstr>
      <vt:lpstr>Kumbh Sans Bold</vt:lpstr>
      <vt:lpstr>Kumbh Sans Medium</vt:lpstr>
      <vt:lpstr>Martel SemiBold</vt:lpstr>
      <vt:lpstr>Kumbh Sans</vt:lpstr>
      <vt:lpstr>Martel ExtraBold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 N V R GANESH</dc:creator>
  <cp:lastModifiedBy>Ganesh Manchikanti</cp:lastModifiedBy>
  <cp:revision>4</cp:revision>
  <dcterms:created xsi:type="dcterms:W3CDTF">2026-10-14T17:25:00Z</dcterms:created>
  <dcterms:modified xsi:type="dcterms:W3CDTF">2026-10-15T09:37:55Z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EDDD187F90784452BB087AE0C466AD4B_13</vt:lpwstr>
  </property>
</Properties>
</file>